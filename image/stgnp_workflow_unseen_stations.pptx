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7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5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73152"/>
            <a:ext cx="9144000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2000" b="1" dirty="0">
                <a:solidFill>
                  <a:srgbClr val="111111"/>
                </a:solidFill>
                <a:latin typeface="Arial"/>
              </a:rPr>
              <a:t>Workflow of STGNP-based soil moisture reconstruction at unseen stations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4592" y="621792"/>
            <a:ext cx="2395728" cy="6089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81940" y="676656"/>
            <a:ext cx="219456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lnSpcReduction="10000"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NAQU soil moisture</a:t>
            </a:r>
          </a:p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monitoring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6352" y="621792"/>
            <a:ext cx="2304288" cy="6089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713232"/>
            <a:ext cx="164592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Data preprocessing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13248" y="621792"/>
            <a:ext cx="2057400" cy="6089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58968" y="731520"/>
            <a:ext cx="1920240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Strict holdout 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99248" y="621792"/>
            <a:ext cx="3621024" cy="6089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083296" y="713232"/>
            <a:ext cx="2962656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Hierarchical STGNP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658600" y="621792"/>
            <a:ext cx="2697480" cy="60899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054230" y="731520"/>
            <a:ext cx="2039112" cy="38404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Inference and 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2" y="1371600"/>
            <a:ext cx="2231136" cy="2258568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1499616"/>
            <a:ext cx="1325880" cy="43891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lnSpcReduction="10000"/>
          </a:bodyPr>
          <a:lstStyle/>
          <a:p>
            <a:pPr algn="l"/>
            <a:r>
              <a:rPr sz="919" b="1" dirty="0">
                <a:solidFill>
                  <a:srgbClr val="111111"/>
                </a:solidFill>
                <a:latin typeface="Arial"/>
              </a:rPr>
              <a:t>Station metadata</a:t>
            </a:r>
          </a:p>
          <a:p>
            <a:pPr algn="l"/>
            <a:r>
              <a:rPr sz="919" b="1" dirty="0">
                <a:solidFill>
                  <a:srgbClr val="111111"/>
                </a:solidFill>
                <a:latin typeface="Arial"/>
              </a:rPr>
              <a:t>station ID, longitude,</a:t>
            </a:r>
          </a:p>
          <a:p>
            <a:pPr algn="l"/>
            <a:r>
              <a:rPr sz="919" b="1" dirty="0">
                <a:solidFill>
                  <a:srgbClr val="111111"/>
                </a:solidFill>
                <a:latin typeface="Arial"/>
              </a:rPr>
              <a:t>latitude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" y="2157984"/>
            <a:ext cx="670560" cy="245059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station ID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8888" y="2157984"/>
            <a:ext cx="670560" cy="245059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longitude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79448" y="2157984"/>
            <a:ext cx="670560" cy="245059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latitude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8328" y="2403043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S001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8888" y="2403043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117.23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79448" y="2403043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31.86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" y="2648102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S002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8888" y="2648102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117.30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79448" y="2648102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31.81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38328" y="2893161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8888" y="2893161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679448" y="2893161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8328" y="3138220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SN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08888" y="3138220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118.02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679448" y="3138220"/>
            <a:ext cx="670560" cy="245059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70" b="0">
                <a:solidFill>
                  <a:srgbClr val="111111"/>
                </a:solidFill>
                <a:latin typeface="Arial"/>
              </a:rPr>
              <a:t>32.15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56032" y="3840480"/>
            <a:ext cx="2231136" cy="21945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4672" y="3977639"/>
            <a:ext cx="1481328" cy="4023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850" b="1">
                <a:solidFill>
                  <a:srgbClr val="111111"/>
                </a:solidFill>
                <a:latin typeface="Arial"/>
              </a:rPr>
              <a:t>Soil moisture series</a:t>
            </a:r>
          </a:p>
          <a:p>
            <a:pPr algn="l"/>
            <a:r>
              <a:rPr sz="850" b="1">
                <a:solidFill>
                  <a:srgbClr val="111111"/>
                </a:solidFill>
                <a:latin typeface="Arial"/>
              </a:rPr>
              <a:t>5 cm depth, 30-min interval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590288"/>
            <a:ext cx="413308" cy="234086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station ID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" y="4590288"/>
            <a:ext cx="413308" cy="234086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time t₁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6657" y="4590288"/>
            <a:ext cx="413308" cy="234086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time t₂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59966" y="4590288"/>
            <a:ext cx="413308" cy="234086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973275" y="4590288"/>
            <a:ext cx="413308" cy="234086"/>
          </a:xfrm>
          <a:prstGeom prst="rect">
            <a:avLst/>
          </a:prstGeom>
          <a:solidFill>
            <a:srgbClr val="DFEAF5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time tᵣ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4824374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S001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3348" y="4824374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0.243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6657" y="4824374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0.251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559966" y="4824374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73275" y="4824374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0.228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058460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S002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3348" y="5058460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0.312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6657" y="5058460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0.305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559966" y="5058460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973275" y="5058460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0.298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5292547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3348" y="5292547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6657" y="5292547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559966" y="5292547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973275" y="5292547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5526633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SN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33348" y="5526633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0.278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146657" y="5526633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0.271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59966" y="5526633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73275" y="5526633"/>
            <a:ext cx="413308" cy="234086"/>
          </a:xfrm>
          <a:prstGeom prst="rect">
            <a:avLst/>
          </a:prstGeom>
          <a:solidFill>
            <a:srgbClr val="FFFFFF"/>
          </a:solidFill>
          <a:ln w="6985">
            <a:solidFill>
              <a:srgbClr val="808B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620" b="0">
                <a:solidFill>
                  <a:srgbClr val="111111"/>
                </a:solidFill>
                <a:latin typeface="Arial"/>
              </a:rPr>
              <a:t>0.265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" y="6272784"/>
            <a:ext cx="1188720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>
                <a:solidFill>
                  <a:srgbClr val="062452"/>
                </a:solidFill>
                <a:latin typeface="Arial"/>
              </a:rPr>
              <a:t>Raw input data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2907792" y="1170432"/>
            <a:ext cx="2121408" cy="105156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3017520" y="1280160"/>
            <a:ext cx="201168" cy="201168"/>
          </a:xfrm>
          <a:prstGeom prst="ellipse">
            <a:avLst/>
          </a:prstGeom>
          <a:solidFill>
            <a:srgbClr val="1567B7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 fontScale="77500" lnSpcReduction="2000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3" name="Funnel 72"/>
          <p:cNvSpPr/>
          <p:nvPr/>
        </p:nvSpPr>
        <p:spPr>
          <a:xfrm>
            <a:off x="3218688" y="1572768"/>
            <a:ext cx="384048" cy="420624"/>
          </a:xfrm>
          <a:prstGeom prst="funnel">
            <a:avLst/>
          </a:prstGeom>
          <a:solidFill>
            <a:srgbClr val="2B83CF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3657600" y="1298448"/>
            <a:ext cx="1243584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l"/>
            <a:r>
              <a:rPr sz="1000" b="0" dirty="0">
                <a:solidFill>
                  <a:srgbClr val="111111"/>
                </a:solidFill>
                <a:latin typeface="Arial"/>
              </a:rPr>
              <a:t>Station filtering by</a:t>
            </a:r>
            <a:r>
              <a:rPr lang="en-US" sz="1000" b="0" dirty="0">
                <a:solidFill>
                  <a:srgbClr val="111111"/>
                </a:solidFill>
                <a:latin typeface="Arial"/>
              </a:rPr>
              <a:t> </a:t>
            </a:r>
            <a:r>
              <a:rPr sz="1000" b="0" dirty="0">
                <a:solidFill>
                  <a:srgbClr val="111111"/>
                </a:solidFill>
                <a:latin typeface="Arial"/>
              </a:rPr>
              <a:t>missing rate &lt; 20%</a:t>
            </a:r>
          </a:p>
        </p:txBody>
      </p:sp>
      <p:sp>
        <p:nvSpPr>
          <p:cNvPr id="75" name="Oval 74"/>
          <p:cNvSpPr/>
          <p:nvPr/>
        </p:nvSpPr>
        <p:spPr>
          <a:xfrm>
            <a:off x="3639312" y="1901952"/>
            <a:ext cx="100584" cy="10058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3831336" y="1901952"/>
            <a:ext cx="100584" cy="10058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4023360" y="1901952"/>
            <a:ext cx="100584" cy="10058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4215384" y="1901952"/>
            <a:ext cx="100584" cy="10058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334256" y="1847088"/>
            <a:ext cx="228600" cy="1371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fontScale="92500" lnSpcReduction="20000"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80" name="Oval 79"/>
          <p:cNvSpPr/>
          <p:nvPr/>
        </p:nvSpPr>
        <p:spPr>
          <a:xfrm>
            <a:off x="4590288" y="1874519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4800600" y="1874519"/>
            <a:ext cx="100584" cy="100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81"/>
          <p:cNvSpPr/>
          <p:nvPr/>
        </p:nvSpPr>
        <p:spPr>
          <a:xfrm>
            <a:off x="2907792" y="2432304"/>
            <a:ext cx="2121408" cy="137160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3017520" y="2542032"/>
            <a:ext cx="201168" cy="201168"/>
          </a:xfrm>
          <a:prstGeom prst="ellipse">
            <a:avLst/>
          </a:prstGeom>
          <a:solidFill>
            <a:srgbClr val="1567B7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 fontScale="77500" lnSpcReduction="2000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584448" y="2578608"/>
            <a:ext cx="1234440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0" dirty="0">
                <a:solidFill>
                  <a:srgbClr val="111111"/>
                </a:solidFill>
                <a:latin typeface="Arial"/>
              </a:rPr>
              <a:t>Missing mask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94676" y="3125724"/>
            <a:ext cx="201168" cy="1097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0" dirty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0" y="3054096"/>
            <a:ext cx="118872" cy="118872"/>
          </a:xfrm>
          <a:prstGeom prst="rect">
            <a:avLst/>
          </a:prstGeom>
          <a:solidFill>
            <a:srgbClr val="1567B7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 fontScale="32500" lnSpcReduction="20000"/>
          </a:bodyPr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279392" y="2999232"/>
            <a:ext cx="512064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680" b="0">
                <a:solidFill>
                  <a:srgbClr val="111111"/>
                </a:solidFill>
                <a:latin typeface="Arial"/>
              </a:rPr>
              <a:t>Observed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114800" y="3310128"/>
            <a:ext cx="118872" cy="118872"/>
          </a:xfrm>
          <a:prstGeom prst="rect">
            <a:avLst/>
          </a:prstGeom>
          <a:solidFill>
            <a:srgbClr val="FFFFFF"/>
          </a:solidFill>
          <a:ln w="1524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 fontScale="32500" lnSpcReduction="20000"/>
          </a:bodyPr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279392" y="3236976"/>
            <a:ext cx="566928" cy="3291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l"/>
            <a:r>
              <a:rPr sz="650" b="0">
                <a:solidFill>
                  <a:srgbClr val="111111"/>
                </a:solidFill>
                <a:latin typeface="Arial"/>
              </a:rPr>
              <a:t>Missing</a:t>
            </a:r>
          </a:p>
          <a:p>
            <a:pPr algn="l"/>
            <a:r>
              <a:rPr sz="650" b="0">
                <a:solidFill>
                  <a:srgbClr val="111111"/>
                </a:solidFill>
                <a:latin typeface="Arial"/>
              </a:rPr>
              <a:t>(-99.0)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2907792" y="4014215"/>
            <a:ext cx="2121408" cy="1005840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3017520" y="4123944"/>
            <a:ext cx="201168" cy="201168"/>
          </a:xfrm>
          <a:prstGeom prst="ellipse">
            <a:avLst/>
          </a:prstGeom>
          <a:solidFill>
            <a:srgbClr val="1567B7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 fontScale="77500" lnSpcReduction="20000"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784090" y="4142232"/>
            <a:ext cx="1117093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normalization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31920" y="4518660"/>
            <a:ext cx="731520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000" b="0" dirty="0">
                <a:solidFill>
                  <a:srgbClr val="111111"/>
                </a:solidFill>
                <a:latin typeface="Arial"/>
              </a:rPr>
              <a:t>μ = 0, </a:t>
            </a:r>
            <a:endParaRPr lang="en-US" sz="1000" b="0" dirty="0">
              <a:solidFill>
                <a:srgbClr val="111111"/>
              </a:solidFill>
              <a:latin typeface="Arial"/>
            </a:endParaRPr>
          </a:p>
          <a:p>
            <a:pPr algn="ctr"/>
            <a:r>
              <a:rPr sz="1000" b="0" dirty="0">
                <a:solidFill>
                  <a:srgbClr val="111111"/>
                </a:solidFill>
                <a:latin typeface="Arial"/>
              </a:rPr>
              <a:t>σ = 1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3968496" y="2221992"/>
            <a:ext cx="0" cy="210312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3968496" y="3803904"/>
            <a:ext cx="0" cy="210311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968496" y="5020056"/>
            <a:ext cx="0" cy="192024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2926080" y="5285232"/>
            <a:ext cx="2066544" cy="0"/>
          </a:xfrm>
          <a:prstGeom prst="line">
            <a:avLst/>
          </a:prstGeom>
          <a:ln w="10160">
            <a:solidFill>
              <a:srgbClr val="5F6B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TextBox 112"/>
          <p:cNvSpPr txBox="1"/>
          <p:nvPr/>
        </p:nvSpPr>
        <p:spPr>
          <a:xfrm>
            <a:off x="2962656" y="5413248"/>
            <a:ext cx="1956816" cy="219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819" b="1" dirty="0">
                <a:solidFill>
                  <a:srgbClr val="062452"/>
                </a:solidFill>
                <a:latin typeface="Arial"/>
              </a:rPr>
              <a:t>Selected stations after preprocessing</a:t>
            </a:r>
          </a:p>
        </p:txBody>
      </p:sp>
      <p:sp>
        <p:nvSpPr>
          <p:cNvPr id="114" name="Oval 113"/>
          <p:cNvSpPr/>
          <p:nvPr/>
        </p:nvSpPr>
        <p:spPr>
          <a:xfrm>
            <a:off x="2999232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3227832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3456432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3685031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3913631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4142231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4370831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4599431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4828031" y="57241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2999232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3227832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3456432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3685031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3913631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4142231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4370831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4599431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4828031" y="5952744"/>
            <a:ext cx="118872" cy="118872"/>
          </a:xfrm>
          <a:prstGeom prst="ellipse">
            <a:avLst/>
          </a:prstGeom>
          <a:solidFill>
            <a:srgbClr val="2B83CF"/>
          </a:solidFill>
          <a:ln w="12700">
            <a:solidFill>
              <a:srgbClr val="2B83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4818888" y="5797296"/>
            <a:ext cx="301752" cy="164592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0" dirty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310128" y="6272784"/>
            <a:ext cx="1207008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>
                <a:solidFill>
                  <a:srgbClr val="062452"/>
                </a:solidFill>
                <a:latin typeface="Arial"/>
              </a:rPr>
              <a:t>35 stations remain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596128" y="1389888"/>
            <a:ext cx="1609344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 dirty="0">
                <a:solidFill>
                  <a:srgbClr val="062452"/>
                </a:solidFill>
                <a:latin typeface="Arial"/>
              </a:rPr>
              <a:t>Monitored stations</a:t>
            </a:r>
          </a:p>
        </p:txBody>
      </p:sp>
      <p:cxnSp>
        <p:nvCxnSpPr>
          <p:cNvPr id="160" name="Connector 159"/>
          <p:cNvCxnSpPr/>
          <p:nvPr/>
        </p:nvCxnSpPr>
        <p:spPr>
          <a:xfrm>
            <a:off x="5559552" y="3474720"/>
            <a:ext cx="1773936" cy="0"/>
          </a:xfrm>
          <a:prstGeom prst="line">
            <a:avLst/>
          </a:prstGeom>
          <a:ln w="9525">
            <a:solidFill>
              <a:srgbClr val="5F6B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5669280" y="3675887"/>
            <a:ext cx="1554480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000" b="1" dirty="0">
                <a:solidFill>
                  <a:srgbClr val="F26B00"/>
                </a:solidFill>
                <a:latin typeface="Arial"/>
              </a:rPr>
              <a:t>Holdout stations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5705856" y="3972667"/>
            <a:ext cx="1434084" cy="943757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6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cxnSp>
        <p:nvCxnSpPr>
          <p:cNvPr id="163" name="Connector 162"/>
          <p:cNvCxnSpPr/>
          <p:nvPr/>
        </p:nvCxnSpPr>
        <p:spPr>
          <a:xfrm>
            <a:off x="5963716" y="4311578"/>
            <a:ext cx="217262" cy="3950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963716" y="4311578"/>
            <a:ext cx="164592" cy="276515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6180978" y="4219407"/>
            <a:ext cx="171175" cy="131673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6128308" y="4351080"/>
            <a:ext cx="52670" cy="237013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6180978" y="4351080"/>
            <a:ext cx="223845" cy="28968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6352153" y="4219407"/>
            <a:ext cx="105339" cy="223845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6352153" y="4219407"/>
            <a:ext cx="329184" cy="72420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6352153" y="4219407"/>
            <a:ext cx="52670" cy="421355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6457492" y="4443252"/>
            <a:ext cx="164592" cy="23701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6681337" y="4291827"/>
            <a:ext cx="131674" cy="243596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6681337" y="4291827"/>
            <a:ext cx="250180" cy="59253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6128308" y="4588093"/>
            <a:ext cx="276515" cy="52669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6404823" y="4640762"/>
            <a:ext cx="217261" cy="3950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813011" y="4351080"/>
            <a:ext cx="118506" cy="184343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H="1">
            <a:off x="6622084" y="4535423"/>
            <a:ext cx="190927" cy="144841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Oval 177"/>
          <p:cNvSpPr/>
          <p:nvPr/>
        </p:nvSpPr>
        <p:spPr>
          <a:xfrm>
            <a:off x="5930798" y="4278660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6148059" y="4318162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6319235" y="4186488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6424574" y="4410334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6648419" y="4258909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6095390" y="4555175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6371904" y="4607844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6780093" y="4502505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6898599" y="4318162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6589166" y="4647346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ounded Rectangle 187"/>
          <p:cNvSpPr/>
          <p:nvPr/>
        </p:nvSpPr>
        <p:spPr>
          <a:xfrm>
            <a:off x="5550408" y="5550408"/>
            <a:ext cx="1783080" cy="7315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910" b="1">
                <a:solidFill>
                  <a:srgbClr val="111111"/>
                </a:solidFill>
                <a:latin typeface="Arial"/>
              </a:rPr>
              <a:t>Holdout stations are</a:t>
            </a:r>
          </a:p>
          <a:p>
            <a:pPr algn="ctr"/>
            <a:r>
              <a:rPr sz="910" b="1">
                <a:solidFill>
                  <a:srgbClr val="111111"/>
                </a:solidFill>
                <a:latin typeface="Arial"/>
              </a:rPr>
              <a:t>removed during training</a:t>
            </a:r>
          </a:p>
        </p:txBody>
      </p:sp>
      <p:sp>
        <p:nvSpPr>
          <p:cNvPr id="189" name="Rounded Rectangle 188"/>
          <p:cNvSpPr/>
          <p:nvPr/>
        </p:nvSpPr>
        <p:spPr>
          <a:xfrm>
            <a:off x="7763256" y="1737360"/>
            <a:ext cx="969264" cy="1498092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1200" b="1" dirty="0">
                <a:solidFill>
                  <a:srgbClr val="111111"/>
                </a:solidFill>
                <a:latin typeface="Arial"/>
              </a:rPr>
              <a:t>Context </a:t>
            </a:r>
            <a:r>
              <a:rPr lang="en-US" altLang="zh-CN" sz="1200" b="1" dirty="0">
                <a:solidFill>
                  <a:srgbClr val="111111"/>
                </a:solidFill>
                <a:latin typeface="Arial"/>
              </a:rPr>
              <a:t>time </a:t>
            </a:r>
            <a:r>
              <a:rPr lang="en-US" sz="1200" b="1" dirty="0">
                <a:solidFill>
                  <a:srgbClr val="111111"/>
                </a:solidFill>
                <a:latin typeface="Arial"/>
              </a:rPr>
              <a:t>windows</a:t>
            </a:r>
          </a:p>
          <a:p>
            <a:pPr algn="ctr"/>
            <a:endParaRPr lang="en-US" sz="1200" b="1" dirty="0">
              <a:solidFill>
                <a:srgbClr val="111111"/>
              </a:solidFill>
              <a:latin typeface="Arial"/>
            </a:endParaRPr>
          </a:p>
          <a:p>
            <a:pPr algn="ctr"/>
            <a:endParaRPr lang="en-US" altLang="zh-CN" sz="770" b="1" dirty="0">
              <a:solidFill>
                <a:srgbClr val="111111"/>
              </a:solidFill>
              <a:latin typeface="Arial"/>
            </a:endParaRPr>
          </a:p>
          <a:p>
            <a:pPr algn="ctr"/>
            <a:endParaRPr lang="en-US" altLang="zh-CN" sz="770" b="1" dirty="0">
              <a:solidFill>
                <a:srgbClr val="111111"/>
              </a:solidFill>
              <a:latin typeface="Arial"/>
            </a:endParaRPr>
          </a:p>
          <a:p>
            <a:pPr algn="ctr"/>
            <a:endParaRPr lang="zh-CN" altLang="en-US" sz="770" b="1" dirty="0">
              <a:solidFill>
                <a:srgbClr val="111111"/>
              </a:solidFill>
              <a:latin typeface="Arial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8622792" y="2651760"/>
            <a:ext cx="201168" cy="1097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fontScale="70000" lnSpcReduction="20000"/>
          </a:bodyPr>
          <a:lstStyle/>
          <a:p>
            <a:pPr algn="ctr"/>
            <a:r>
              <a:rPr sz="90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7790688" y="4069079"/>
            <a:ext cx="941832" cy="1198321"/>
          </a:xfrm>
          <a:prstGeom prst="roundRect">
            <a:avLst/>
          </a:prstGeom>
          <a:solidFill>
            <a:srgbClr val="F5F7FA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7763256" y="4169662"/>
            <a:ext cx="900684" cy="37045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1" dirty="0">
                <a:solidFill>
                  <a:srgbClr val="111111"/>
                </a:solidFill>
                <a:latin typeface="Arial"/>
              </a:rPr>
              <a:t>target</a:t>
            </a:r>
          </a:p>
          <a:p>
            <a:pPr algn="ctr"/>
            <a:r>
              <a:rPr sz="1200" b="1" dirty="0">
                <a:solidFill>
                  <a:srgbClr val="111111"/>
                </a:solidFill>
                <a:latin typeface="Arial"/>
              </a:rPr>
              <a:t>spatial adjacency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549640" y="4791456"/>
            <a:ext cx="182880" cy="1097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fontScale="77500" lnSpcReduction="20000"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cxnSp>
        <p:nvCxnSpPr>
          <p:cNvPr id="209" name="Connector 208"/>
          <p:cNvCxnSpPr>
            <a:cxnSpLocks/>
            <a:stCxn id="189" idx="3"/>
          </p:cNvCxnSpPr>
          <p:nvPr/>
        </p:nvCxnSpPr>
        <p:spPr>
          <a:xfrm flipV="1">
            <a:off x="8732520" y="2480097"/>
            <a:ext cx="322027" cy="6309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>
            <a:cxnSpLocks/>
            <a:stCxn id="200" idx="3"/>
          </p:cNvCxnSpPr>
          <p:nvPr/>
        </p:nvCxnSpPr>
        <p:spPr>
          <a:xfrm>
            <a:off x="8732520" y="4668240"/>
            <a:ext cx="322027" cy="0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Rounded Rectangle 210"/>
          <p:cNvSpPr/>
          <p:nvPr/>
        </p:nvSpPr>
        <p:spPr>
          <a:xfrm>
            <a:off x="9054547" y="1408176"/>
            <a:ext cx="1936541" cy="4750308"/>
          </a:xfrm>
          <a:prstGeom prst="roundRect">
            <a:avLst/>
          </a:prstGeom>
          <a:solidFill>
            <a:srgbClr val="DCEEFF"/>
          </a:solidFill>
          <a:ln w="1524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9331596" y="1600199"/>
            <a:ext cx="1556113" cy="265175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Hierarchical STGNP model</a:t>
            </a:r>
          </a:p>
        </p:txBody>
      </p:sp>
      <p:sp>
        <p:nvSpPr>
          <p:cNvPr id="213" name="Rounded Rectangle 212"/>
          <p:cNvSpPr/>
          <p:nvPr/>
        </p:nvSpPr>
        <p:spPr>
          <a:xfrm>
            <a:off x="9321392" y="1950958"/>
            <a:ext cx="1371600" cy="109728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5" name="TextBox 214"/>
          <p:cNvSpPr txBox="1"/>
          <p:nvPr/>
        </p:nvSpPr>
        <p:spPr>
          <a:xfrm>
            <a:off x="9395605" y="2075687"/>
            <a:ext cx="1188720" cy="265177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000" b="1" dirty="0">
                <a:solidFill>
                  <a:srgbClr val="111111"/>
                </a:solidFill>
                <a:latin typeface="Arial"/>
              </a:rPr>
              <a:t>Spatiotemporal</a:t>
            </a:r>
          </a:p>
          <a:p>
            <a:pPr algn="ctr"/>
            <a:r>
              <a:rPr sz="1000" b="1" dirty="0">
                <a:solidFill>
                  <a:srgbClr val="111111"/>
                </a:solidFill>
                <a:latin typeface="Arial"/>
              </a:rPr>
              <a:t>graph encoding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0277085" y="2500700"/>
            <a:ext cx="270664" cy="1876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0" dirty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9331596" y="3235452"/>
            <a:ext cx="1391402" cy="1436522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9585641" y="3861217"/>
            <a:ext cx="786384" cy="205899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900" b="1" dirty="0">
                <a:solidFill>
                  <a:srgbClr val="111111"/>
                </a:solidFill>
                <a:latin typeface="Arial"/>
              </a:rPr>
              <a:t>Latent inference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9351398" y="5047488"/>
            <a:ext cx="1371600" cy="987552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9708014" y="5148072"/>
            <a:ext cx="749808" cy="27432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900" b="1" dirty="0">
                <a:solidFill>
                  <a:srgbClr val="111111"/>
                </a:solidFill>
                <a:latin typeface="Arial"/>
              </a:rPr>
              <a:t>Observation</a:t>
            </a:r>
          </a:p>
          <a:p>
            <a:pPr algn="ctr"/>
            <a:r>
              <a:rPr sz="900" b="1" dirty="0">
                <a:solidFill>
                  <a:srgbClr val="111111"/>
                </a:solidFill>
                <a:latin typeface="Arial"/>
              </a:rPr>
              <a:t>decoder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9664671" y="5819503"/>
            <a:ext cx="603504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9682959" y="5545183"/>
            <a:ext cx="0" cy="36576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Oval 255"/>
          <p:cNvSpPr/>
          <p:nvPr/>
        </p:nvSpPr>
        <p:spPr>
          <a:xfrm>
            <a:off x="9881750" y="5678424"/>
            <a:ext cx="32004" cy="3200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9934419" y="5559552"/>
            <a:ext cx="32004" cy="3200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10101206" y="5550408"/>
            <a:ext cx="32004" cy="3200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10194932" y="5515791"/>
            <a:ext cx="32004" cy="3200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1" name="Connector 260"/>
          <p:cNvCxnSpPr>
            <a:cxnSpLocks/>
            <a:stCxn id="213" idx="2"/>
          </p:cNvCxnSpPr>
          <p:nvPr/>
        </p:nvCxnSpPr>
        <p:spPr>
          <a:xfrm>
            <a:off x="10007192" y="3048238"/>
            <a:ext cx="0" cy="188738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Connector 261"/>
          <p:cNvCxnSpPr/>
          <p:nvPr/>
        </p:nvCxnSpPr>
        <p:spPr>
          <a:xfrm>
            <a:off x="10043768" y="4713182"/>
            <a:ext cx="0" cy="320040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9" name="TextBox 268"/>
          <p:cNvSpPr txBox="1"/>
          <p:nvPr/>
        </p:nvSpPr>
        <p:spPr>
          <a:xfrm>
            <a:off x="11169541" y="4471416"/>
            <a:ext cx="201168" cy="1097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fontScale="77500" lnSpcReduction="20000"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12015216" y="1170432"/>
            <a:ext cx="1993392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1" dirty="0">
                <a:solidFill>
                  <a:srgbClr val="F26B00"/>
                </a:solidFill>
                <a:latin typeface="Arial"/>
              </a:rPr>
              <a:t>Holdout stations</a:t>
            </a:r>
          </a:p>
          <a:p>
            <a:pPr algn="ctr"/>
            <a:r>
              <a:rPr sz="1200" b="1" dirty="0">
                <a:solidFill>
                  <a:srgbClr val="F26B00"/>
                </a:solidFill>
                <a:latin typeface="Arial"/>
              </a:rPr>
              <a:t>(dynamically appended)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12390120" y="1653234"/>
            <a:ext cx="1217980" cy="77687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26B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cxnSp>
        <p:nvCxnSpPr>
          <p:cNvPr id="273" name="Connector 272"/>
          <p:cNvCxnSpPr/>
          <p:nvPr/>
        </p:nvCxnSpPr>
        <p:spPr>
          <a:xfrm>
            <a:off x="12540080" y="1904876"/>
            <a:ext cx="217262" cy="3950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Connector 273"/>
          <p:cNvCxnSpPr/>
          <p:nvPr/>
        </p:nvCxnSpPr>
        <p:spPr>
          <a:xfrm>
            <a:off x="12540080" y="1904876"/>
            <a:ext cx="164592" cy="276515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Connector 274"/>
          <p:cNvCxnSpPr/>
          <p:nvPr/>
        </p:nvCxnSpPr>
        <p:spPr>
          <a:xfrm flipV="1">
            <a:off x="12757342" y="1812705"/>
            <a:ext cx="171175" cy="131673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 flipH="1">
            <a:off x="12704672" y="1944378"/>
            <a:ext cx="52670" cy="237013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Connector 276"/>
          <p:cNvCxnSpPr/>
          <p:nvPr/>
        </p:nvCxnSpPr>
        <p:spPr>
          <a:xfrm>
            <a:off x="12757342" y="1944378"/>
            <a:ext cx="223845" cy="28968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>
            <a:off x="12928517" y="1812705"/>
            <a:ext cx="105339" cy="223845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12928517" y="1812705"/>
            <a:ext cx="329184" cy="72420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12928517" y="1812705"/>
            <a:ext cx="52670" cy="421355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13033856" y="2036550"/>
            <a:ext cx="164592" cy="23701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13257701" y="1885125"/>
            <a:ext cx="131674" cy="243597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Connector 282"/>
          <p:cNvCxnSpPr/>
          <p:nvPr/>
        </p:nvCxnSpPr>
        <p:spPr>
          <a:xfrm>
            <a:off x="13257701" y="1885125"/>
            <a:ext cx="250180" cy="59253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4" name="Connector 283"/>
          <p:cNvCxnSpPr/>
          <p:nvPr/>
        </p:nvCxnSpPr>
        <p:spPr>
          <a:xfrm>
            <a:off x="12704672" y="2181391"/>
            <a:ext cx="276515" cy="52669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>
            <a:off x="12981187" y="2234060"/>
            <a:ext cx="217261" cy="3950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13389375" y="1944378"/>
            <a:ext cx="118506" cy="184344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7" name="Connector 286"/>
          <p:cNvCxnSpPr/>
          <p:nvPr/>
        </p:nvCxnSpPr>
        <p:spPr>
          <a:xfrm flipH="1">
            <a:off x="13198448" y="2128722"/>
            <a:ext cx="190927" cy="144840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Oval 287"/>
          <p:cNvSpPr/>
          <p:nvPr/>
        </p:nvSpPr>
        <p:spPr>
          <a:xfrm>
            <a:off x="12507162" y="1871958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12724423" y="1911460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12895599" y="1779786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13000938" y="2003632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13224783" y="1852207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12671754" y="2148473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12948268" y="2201142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13356457" y="2095803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13474963" y="1911460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13165530" y="2240644"/>
            <a:ext cx="105338" cy="105338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Rounded Rectangle 297"/>
          <p:cNvSpPr/>
          <p:nvPr/>
        </p:nvSpPr>
        <p:spPr>
          <a:xfrm>
            <a:off x="11753088" y="2878836"/>
            <a:ext cx="2487168" cy="157276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11963887" y="2944368"/>
            <a:ext cx="2084831" cy="20116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810" b="1" dirty="0">
                <a:solidFill>
                  <a:srgbClr val="062452"/>
                </a:solidFill>
                <a:latin typeface="Arial"/>
              </a:rPr>
              <a:t>Augmented graph during inference</a:t>
            </a:r>
          </a:p>
        </p:txBody>
      </p:sp>
      <p:cxnSp>
        <p:nvCxnSpPr>
          <p:cNvPr id="300" name="Connector 299"/>
          <p:cNvCxnSpPr/>
          <p:nvPr/>
        </p:nvCxnSpPr>
        <p:spPr>
          <a:xfrm>
            <a:off x="12361468" y="3530803"/>
            <a:ext cx="247437" cy="44988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1" name="Connector 300"/>
          <p:cNvCxnSpPr/>
          <p:nvPr/>
        </p:nvCxnSpPr>
        <p:spPr>
          <a:xfrm>
            <a:off x="12361468" y="3530803"/>
            <a:ext cx="187452" cy="314919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12608905" y="3425830"/>
            <a:ext cx="194950" cy="149961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H="1">
            <a:off x="12548920" y="3575791"/>
            <a:ext cx="59985" cy="269931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>
            <a:off x="12608905" y="3575791"/>
            <a:ext cx="254935" cy="329916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>
            <a:off x="12803855" y="3425830"/>
            <a:ext cx="119969" cy="254934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6" name="Connector 305"/>
          <p:cNvCxnSpPr/>
          <p:nvPr/>
        </p:nvCxnSpPr>
        <p:spPr>
          <a:xfrm>
            <a:off x="12803855" y="3425830"/>
            <a:ext cx="374904" cy="82479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7" name="Connector 306"/>
          <p:cNvCxnSpPr/>
          <p:nvPr/>
        </p:nvCxnSpPr>
        <p:spPr>
          <a:xfrm>
            <a:off x="12803855" y="3425830"/>
            <a:ext cx="59985" cy="479877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8" name="Connector 307"/>
          <p:cNvCxnSpPr/>
          <p:nvPr/>
        </p:nvCxnSpPr>
        <p:spPr>
          <a:xfrm>
            <a:off x="12923824" y="3680764"/>
            <a:ext cx="187452" cy="269931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3178759" y="3508309"/>
            <a:ext cx="149962" cy="277429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>
            <a:off x="13178759" y="3508309"/>
            <a:ext cx="284927" cy="67482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>
            <a:off x="12548920" y="3845722"/>
            <a:ext cx="314920" cy="59985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>
            <a:off x="12863840" y="3905707"/>
            <a:ext cx="247436" cy="44988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13328721" y="3575791"/>
            <a:ext cx="134965" cy="209947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H="1">
            <a:off x="13111276" y="3785738"/>
            <a:ext cx="217445" cy="164957"/>
          </a:xfrm>
          <a:prstGeom prst="line">
            <a:avLst/>
          </a:prstGeom>
          <a:ln w="7620">
            <a:solidFill>
              <a:srgbClr val="5F6B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5" name="Oval 314"/>
          <p:cNvSpPr/>
          <p:nvPr/>
        </p:nvSpPr>
        <p:spPr>
          <a:xfrm>
            <a:off x="12323978" y="3493312"/>
            <a:ext cx="119969" cy="119969"/>
          </a:xfrm>
          <a:prstGeom prst="ellipse">
            <a:avLst/>
          </a:prstGeom>
          <a:solidFill>
            <a:srgbClr val="2B83CF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12571415" y="3538301"/>
            <a:ext cx="119969" cy="119969"/>
          </a:xfrm>
          <a:prstGeom prst="ellipse">
            <a:avLst/>
          </a:prstGeom>
          <a:solidFill>
            <a:srgbClr val="2B83CF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12766365" y="3388339"/>
            <a:ext cx="119969" cy="119969"/>
          </a:xfrm>
          <a:prstGeom prst="ellipse">
            <a:avLst/>
          </a:prstGeom>
          <a:solidFill>
            <a:srgbClr val="2B83CF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12886334" y="3643274"/>
            <a:ext cx="119969" cy="119969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13141269" y="3470818"/>
            <a:ext cx="119969" cy="119969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12511430" y="3808232"/>
            <a:ext cx="119969" cy="119969"/>
          </a:xfrm>
          <a:prstGeom prst="ellipse">
            <a:avLst/>
          </a:prstGeom>
          <a:solidFill>
            <a:srgbClr val="2B83CF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12826349" y="3868216"/>
            <a:ext cx="119969" cy="119969"/>
          </a:xfrm>
          <a:prstGeom prst="ellipse">
            <a:avLst/>
          </a:prstGeom>
          <a:solidFill>
            <a:srgbClr val="2B83CF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13291230" y="3748247"/>
            <a:ext cx="119969" cy="119969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13426196" y="3538301"/>
            <a:ext cx="119969" cy="119969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13073786" y="3913205"/>
            <a:ext cx="119969" cy="119969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5" name="Connector 324"/>
          <p:cNvCxnSpPr>
            <a:cxnSpLocks/>
          </p:cNvCxnSpPr>
          <p:nvPr/>
        </p:nvCxnSpPr>
        <p:spPr>
          <a:xfrm flipH="1">
            <a:off x="12362688" y="2322576"/>
            <a:ext cx="91440" cy="530352"/>
          </a:xfrm>
          <a:prstGeom prst="line">
            <a:avLst/>
          </a:prstGeom>
          <a:ln w="12700">
            <a:solidFill>
              <a:srgbClr val="F26B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>
            <a:cxnSpLocks/>
          </p:cNvCxnSpPr>
          <p:nvPr/>
        </p:nvCxnSpPr>
        <p:spPr>
          <a:xfrm flipH="1">
            <a:off x="12755880" y="2322576"/>
            <a:ext cx="73152" cy="530352"/>
          </a:xfrm>
          <a:prstGeom prst="line">
            <a:avLst/>
          </a:prstGeom>
          <a:ln w="12700">
            <a:solidFill>
              <a:srgbClr val="F26B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>
            <a:cxnSpLocks/>
          </p:cNvCxnSpPr>
          <p:nvPr/>
        </p:nvCxnSpPr>
        <p:spPr>
          <a:xfrm flipH="1">
            <a:off x="13185648" y="2322576"/>
            <a:ext cx="36576" cy="530352"/>
          </a:xfrm>
          <a:prstGeom prst="line">
            <a:avLst/>
          </a:prstGeom>
          <a:ln w="12700">
            <a:solidFill>
              <a:srgbClr val="F26B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>
            <a:cxnSpLocks/>
          </p:cNvCxnSpPr>
          <p:nvPr/>
        </p:nvCxnSpPr>
        <p:spPr>
          <a:xfrm flipH="1">
            <a:off x="13533120" y="2322576"/>
            <a:ext cx="27432" cy="530352"/>
          </a:xfrm>
          <a:prstGeom prst="line">
            <a:avLst/>
          </a:prstGeom>
          <a:ln w="12700">
            <a:solidFill>
              <a:srgbClr val="F26B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2938760" y="4370832"/>
            <a:ext cx="0" cy="219456"/>
          </a:xfrm>
          <a:prstGeom prst="line">
            <a:avLst/>
          </a:prstGeom>
          <a:ln w="15240">
            <a:solidFill>
              <a:srgbClr val="11111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Rounded Rectangle 329"/>
          <p:cNvSpPr/>
          <p:nvPr/>
        </p:nvSpPr>
        <p:spPr>
          <a:xfrm>
            <a:off x="11740896" y="4498848"/>
            <a:ext cx="2487168" cy="106070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31" name="TextBox 330"/>
          <p:cNvSpPr txBox="1"/>
          <p:nvPr/>
        </p:nvSpPr>
        <p:spPr>
          <a:xfrm>
            <a:off x="12024360" y="4608576"/>
            <a:ext cx="1938528" cy="18288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000" b="1" dirty="0">
                <a:solidFill>
                  <a:srgbClr val="062452"/>
                </a:solidFill>
                <a:latin typeface="Arial"/>
              </a:rPr>
              <a:t>Reconstructed soil moisture</a:t>
            </a:r>
          </a:p>
          <a:p>
            <a:pPr algn="ctr"/>
            <a:r>
              <a:rPr sz="1000" b="1" dirty="0">
                <a:solidFill>
                  <a:srgbClr val="062452"/>
                </a:solidFill>
                <a:latin typeface="Arial"/>
              </a:rPr>
              <a:t>at unseen stations</a:t>
            </a:r>
          </a:p>
        </p:txBody>
      </p:sp>
      <p:cxnSp>
        <p:nvCxnSpPr>
          <p:cNvPr id="332" name="Connector 331"/>
          <p:cNvCxnSpPr/>
          <p:nvPr/>
        </p:nvCxnSpPr>
        <p:spPr>
          <a:xfrm>
            <a:off x="11932920" y="5248656"/>
            <a:ext cx="54864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11932920" y="4873752"/>
            <a:ext cx="0" cy="374904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11996928" y="4983480"/>
            <a:ext cx="100584" cy="91440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11996928" y="5102352"/>
            <a:ext cx="118872" cy="36576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2143232" y="5029200"/>
            <a:ext cx="100584" cy="18288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 flipV="1">
            <a:off x="12143232" y="5029200"/>
            <a:ext cx="118872" cy="91440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2289536" y="4983480"/>
            <a:ext cx="100584" cy="128016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 flipV="1">
            <a:off x="12289536" y="4956048"/>
            <a:ext cx="118872" cy="146304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0" name="Connector 339"/>
          <p:cNvCxnSpPr/>
          <p:nvPr/>
        </p:nvCxnSpPr>
        <p:spPr>
          <a:xfrm>
            <a:off x="12591288" y="5248656"/>
            <a:ext cx="54864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1" name="Connector 340"/>
          <p:cNvCxnSpPr/>
          <p:nvPr/>
        </p:nvCxnSpPr>
        <p:spPr>
          <a:xfrm flipV="1">
            <a:off x="12591288" y="4873752"/>
            <a:ext cx="0" cy="374904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2" name="Connector 341"/>
          <p:cNvCxnSpPr/>
          <p:nvPr/>
        </p:nvCxnSpPr>
        <p:spPr>
          <a:xfrm flipV="1">
            <a:off x="12655296" y="4983480"/>
            <a:ext cx="100584" cy="91440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3" name="Connector 342"/>
          <p:cNvCxnSpPr/>
          <p:nvPr/>
        </p:nvCxnSpPr>
        <p:spPr>
          <a:xfrm flipV="1">
            <a:off x="12655296" y="5102352"/>
            <a:ext cx="118872" cy="36576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Connector 343"/>
          <p:cNvCxnSpPr/>
          <p:nvPr/>
        </p:nvCxnSpPr>
        <p:spPr>
          <a:xfrm>
            <a:off x="12801600" y="5029200"/>
            <a:ext cx="100584" cy="18288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" name="Connector 344"/>
          <p:cNvCxnSpPr/>
          <p:nvPr/>
        </p:nvCxnSpPr>
        <p:spPr>
          <a:xfrm flipV="1">
            <a:off x="12801600" y="5029200"/>
            <a:ext cx="118872" cy="91440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" name="Connector 345"/>
          <p:cNvCxnSpPr/>
          <p:nvPr/>
        </p:nvCxnSpPr>
        <p:spPr>
          <a:xfrm>
            <a:off x="12947904" y="4983480"/>
            <a:ext cx="100584" cy="128016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" name="Connector 346"/>
          <p:cNvCxnSpPr/>
          <p:nvPr/>
        </p:nvCxnSpPr>
        <p:spPr>
          <a:xfrm flipV="1">
            <a:off x="12947904" y="4956048"/>
            <a:ext cx="118872" cy="146304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>
            <a:off x="13249656" y="5248656"/>
            <a:ext cx="54864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13249656" y="4873752"/>
            <a:ext cx="0" cy="374904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13313664" y="4983480"/>
            <a:ext cx="100584" cy="91440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13313664" y="5102352"/>
            <a:ext cx="118872" cy="36576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" name="Connector 351"/>
          <p:cNvCxnSpPr/>
          <p:nvPr/>
        </p:nvCxnSpPr>
        <p:spPr>
          <a:xfrm>
            <a:off x="13459968" y="5029200"/>
            <a:ext cx="100584" cy="18288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3" name="Connector 352"/>
          <p:cNvCxnSpPr/>
          <p:nvPr/>
        </p:nvCxnSpPr>
        <p:spPr>
          <a:xfrm flipV="1">
            <a:off x="13459968" y="5029200"/>
            <a:ext cx="118872" cy="91440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353"/>
          <p:cNvCxnSpPr/>
          <p:nvPr/>
        </p:nvCxnSpPr>
        <p:spPr>
          <a:xfrm>
            <a:off x="13606272" y="4983480"/>
            <a:ext cx="100584" cy="128016"/>
          </a:xfrm>
          <a:prstGeom prst="line">
            <a:avLst/>
          </a:prstGeom>
          <a:ln w="8890">
            <a:solidFill>
              <a:srgbClr val="11111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3606272" y="4956048"/>
            <a:ext cx="118872" cy="146304"/>
          </a:xfrm>
          <a:prstGeom prst="line">
            <a:avLst/>
          </a:prstGeom>
          <a:ln w="12700">
            <a:solidFill>
              <a:srgbClr val="F26B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12874752" y="5376672"/>
            <a:ext cx="237744" cy="10972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fontScale="77500" lnSpcReduction="20000"/>
          </a:bodyPr>
          <a:lstStyle/>
          <a:p>
            <a:pPr algn="ctr"/>
            <a:r>
              <a:rPr sz="800" b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cxnSp>
        <p:nvCxnSpPr>
          <p:cNvPr id="357" name="Connector 356"/>
          <p:cNvCxnSpPr/>
          <p:nvPr/>
        </p:nvCxnSpPr>
        <p:spPr>
          <a:xfrm>
            <a:off x="11722608" y="5687568"/>
            <a:ext cx="2505456" cy="0"/>
          </a:xfrm>
          <a:prstGeom prst="line">
            <a:avLst/>
          </a:prstGeom>
          <a:ln w="9525">
            <a:solidFill>
              <a:srgbClr val="5F6B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8" name="TextBox 357"/>
          <p:cNvSpPr txBox="1"/>
          <p:nvPr/>
        </p:nvSpPr>
        <p:spPr>
          <a:xfrm>
            <a:off x="12289536" y="5833872"/>
            <a:ext cx="1435608" cy="23774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Evaluation metrics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11934444" y="6089904"/>
            <a:ext cx="5669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60" name="TextBox 359"/>
          <p:cNvSpPr txBox="1"/>
          <p:nvPr/>
        </p:nvSpPr>
        <p:spPr>
          <a:xfrm>
            <a:off x="12020398" y="6217920"/>
            <a:ext cx="402336" cy="12801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1" dirty="0">
                <a:solidFill>
                  <a:srgbClr val="062452"/>
                </a:solidFill>
                <a:latin typeface="Arial"/>
              </a:rPr>
              <a:t>MAE</a:t>
            </a:r>
          </a:p>
        </p:txBody>
      </p:sp>
      <p:grpSp>
        <p:nvGrpSpPr>
          <p:cNvPr id="405" name="组合 404">
            <a:extLst>
              <a:ext uri="{FF2B5EF4-FFF2-40B4-BE49-F238E27FC236}">
                <a16:creationId xmlns:a16="http://schemas.microsoft.com/office/drawing/2014/main" id="{7430E9D7-46D1-4498-7D8A-8EB197E9532F}"/>
              </a:ext>
            </a:extLst>
          </p:cNvPr>
          <p:cNvGrpSpPr/>
          <p:nvPr/>
        </p:nvGrpSpPr>
        <p:grpSpPr>
          <a:xfrm>
            <a:off x="3072384" y="2855975"/>
            <a:ext cx="823816" cy="832104"/>
            <a:chOff x="8283609" y="7136892"/>
            <a:chExt cx="274320" cy="274320"/>
          </a:xfrm>
        </p:grpSpPr>
        <p:sp>
          <p:nvSpPr>
            <p:cNvPr id="380" name="Rectangle 379"/>
            <p:cNvSpPr/>
            <p:nvPr/>
          </p:nvSpPr>
          <p:spPr>
            <a:xfrm>
              <a:off x="8283609" y="7136892"/>
              <a:ext cx="91440" cy="91440"/>
            </a:xfrm>
            <a:prstGeom prst="rect">
              <a:avLst/>
            </a:prstGeom>
            <a:solidFill>
              <a:schemeClr val="bg1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1" name="Rectangle 380"/>
            <p:cNvSpPr/>
            <p:nvPr/>
          </p:nvSpPr>
          <p:spPr>
            <a:xfrm>
              <a:off x="8375049" y="7136892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2" name="Rectangle 381"/>
            <p:cNvSpPr/>
            <p:nvPr/>
          </p:nvSpPr>
          <p:spPr>
            <a:xfrm>
              <a:off x="8466489" y="7136892"/>
              <a:ext cx="91440" cy="914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8283609" y="7228332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8375049" y="7228332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5" name="Rectangle 384"/>
            <p:cNvSpPr/>
            <p:nvPr/>
          </p:nvSpPr>
          <p:spPr>
            <a:xfrm>
              <a:off x="8466489" y="7228332"/>
              <a:ext cx="91440" cy="914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6" name="Rectangle 385"/>
            <p:cNvSpPr/>
            <p:nvPr/>
          </p:nvSpPr>
          <p:spPr>
            <a:xfrm>
              <a:off x="8283609" y="7319772"/>
              <a:ext cx="91440" cy="91440"/>
            </a:xfrm>
            <a:prstGeom prst="rect">
              <a:avLst/>
            </a:prstGeom>
            <a:solidFill>
              <a:schemeClr val="bg1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7" name="Rectangle 386"/>
            <p:cNvSpPr/>
            <p:nvPr/>
          </p:nvSpPr>
          <p:spPr>
            <a:xfrm>
              <a:off x="8375049" y="7319772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8466488" y="7319770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endParaRPr dirty="0"/>
            </a:p>
          </p:txBody>
        </p:sp>
      </p:grpSp>
      <p:cxnSp>
        <p:nvCxnSpPr>
          <p:cNvPr id="390" name="Connector 389"/>
          <p:cNvCxnSpPr/>
          <p:nvPr/>
        </p:nvCxnSpPr>
        <p:spPr>
          <a:xfrm>
            <a:off x="2560320" y="3474720"/>
            <a:ext cx="256032" cy="0"/>
          </a:xfrm>
          <a:prstGeom prst="line">
            <a:avLst/>
          </a:prstGeom>
          <a:ln w="25400">
            <a:solidFill>
              <a:srgbClr val="0624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>
            <a:off x="5120640" y="3474720"/>
            <a:ext cx="292608" cy="0"/>
          </a:xfrm>
          <a:prstGeom prst="line">
            <a:avLst/>
          </a:prstGeom>
          <a:ln w="25400">
            <a:solidFill>
              <a:srgbClr val="0624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7470648" y="3474720"/>
            <a:ext cx="228600" cy="0"/>
          </a:xfrm>
          <a:prstGeom prst="line">
            <a:avLst/>
          </a:prstGeom>
          <a:ln w="25400">
            <a:solidFill>
              <a:srgbClr val="0624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1320272" y="3474720"/>
            <a:ext cx="338328" cy="0"/>
          </a:xfrm>
          <a:prstGeom prst="line">
            <a:avLst/>
          </a:prstGeom>
          <a:ln w="25400">
            <a:solidFill>
              <a:srgbClr val="0624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6" name="Rounded Rectangle 395"/>
          <p:cNvSpPr/>
          <p:nvPr/>
        </p:nvSpPr>
        <p:spPr>
          <a:xfrm>
            <a:off x="1146656" y="7179869"/>
            <a:ext cx="12207240" cy="6217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718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1420976" y="7408469"/>
            <a:ext cx="182880" cy="182880"/>
          </a:xfrm>
          <a:prstGeom prst="ellipse">
            <a:avLst/>
          </a:prstGeom>
          <a:solidFill>
            <a:srgbClr val="2B83CF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TextBox 397"/>
          <p:cNvSpPr txBox="1"/>
          <p:nvPr/>
        </p:nvSpPr>
        <p:spPr>
          <a:xfrm>
            <a:off x="1728216" y="7342632"/>
            <a:ext cx="201168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l"/>
            <a:r>
              <a:rPr sz="1000" b="0" dirty="0">
                <a:solidFill>
                  <a:srgbClr val="111111"/>
                </a:solidFill>
                <a:latin typeface="Arial"/>
              </a:rPr>
              <a:t>Blue nodes:</a:t>
            </a:r>
          </a:p>
          <a:p>
            <a:pPr algn="l"/>
            <a:r>
              <a:rPr sz="1000" b="0" dirty="0">
                <a:solidFill>
                  <a:srgbClr val="111111"/>
                </a:solidFill>
                <a:latin typeface="Arial"/>
              </a:rPr>
              <a:t>Observed / context stations</a:t>
            </a:r>
          </a:p>
        </p:txBody>
      </p:sp>
      <p:sp>
        <p:nvSpPr>
          <p:cNvPr id="399" name="Oval 398"/>
          <p:cNvSpPr/>
          <p:nvPr/>
        </p:nvSpPr>
        <p:spPr>
          <a:xfrm>
            <a:off x="4328768" y="7408469"/>
            <a:ext cx="182880" cy="182880"/>
          </a:xfrm>
          <a:prstGeom prst="ellipse">
            <a:avLst/>
          </a:prstGeom>
          <a:solidFill>
            <a:srgbClr val="F26B00"/>
          </a:solidFill>
          <a:ln w="12700">
            <a:solidFill>
              <a:srgbClr val="06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4627254" y="7341522"/>
            <a:ext cx="2011680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lnSpcReduction="10000"/>
          </a:bodyPr>
          <a:lstStyle/>
          <a:p>
            <a:r>
              <a:rPr sz="1000" dirty="0">
                <a:solidFill>
                  <a:srgbClr val="111111"/>
                </a:solidFill>
                <a:latin typeface="Arial"/>
              </a:rPr>
              <a:t>Orange nodes:</a:t>
            </a:r>
          </a:p>
          <a:p>
            <a:r>
              <a:rPr sz="1000" dirty="0">
                <a:solidFill>
                  <a:srgbClr val="111111"/>
                </a:solidFill>
                <a:latin typeface="Arial"/>
              </a:rPr>
              <a:t>Holdout / unseen stations</a:t>
            </a:r>
          </a:p>
        </p:txBody>
      </p:sp>
      <p:cxnSp>
        <p:nvCxnSpPr>
          <p:cNvPr id="401" name="Connector 400"/>
          <p:cNvCxnSpPr/>
          <p:nvPr/>
        </p:nvCxnSpPr>
        <p:spPr>
          <a:xfrm>
            <a:off x="6980528" y="7445045"/>
            <a:ext cx="457199" cy="0"/>
          </a:xfrm>
          <a:prstGeom prst="line">
            <a:avLst/>
          </a:prstGeom>
          <a:ln w="17780">
            <a:solidFill>
              <a:srgbClr val="062452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2" name="TextBox 401"/>
          <p:cNvSpPr txBox="1"/>
          <p:nvPr/>
        </p:nvSpPr>
        <p:spPr>
          <a:xfrm>
            <a:off x="7560312" y="7312980"/>
            <a:ext cx="1627632" cy="31089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rmAutofit lnSpcReduction="10000"/>
          </a:bodyPr>
          <a:lstStyle/>
          <a:p>
            <a:r>
              <a:rPr sz="1000" dirty="0">
                <a:solidFill>
                  <a:srgbClr val="111111"/>
                </a:solidFill>
                <a:latin typeface="Arial"/>
              </a:rPr>
              <a:t>Solid </a:t>
            </a:r>
            <a:r>
              <a:rPr sz="1000" dirty="0" err="1">
                <a:solidFill>
                  <a:srgbClr val="111111"/>
                </a:solidFill>
                <a:latin typeface="Arial"/>
              </a:rPr>
              <a:t>arr</a:t>
            </a:r>
            <a:r>
              <a:rPr lang="en-US" altLang="zh-CN" sz="1000" dirty="0" err="1">
                <a:solidFill>
                  <a:srgbClr val="111111"/>
                </a:solidFill>
                <a:latin typeface="Arial"/>
              </a:rPr>
              <a:t>data</a:t>
            </a:r>
            <a:r>
              <a:rPr sz="1000" dirty="0" err="1">
                <a:solidFill>
                  <a:srgbClr val="111111"/>
                </a:solidFill>
                <a:latin typeface="Arial"/>
              </a:rPr>
              <a:t>ows</a:t>
            </a:r>
            <a:r>
              <a:rPr sz="1000" dirty="0">
                <a:solidFill>
                  <a:srgbClr val="111111"/>
                </a:solidFill>
                <a:latin typeface="Arial"/>
              </a:rPr>
              <a:t>:</a:t>
            </a:r>
          </a:p>
          <a:p>
            <a:r>
              <a:rPr sz="1000" dirty="0">
                <a:solidFill>
                  <a:srgbClr val="111111"/>
                </a:solidFill>
                <a:latin typeface="Arial"/>
              </a:rPr>
              <a:t>Training / flow</a:t>
            </a:r>
          </a:p>
        </p:txBody>
      </p:sp>
      <p:cxnSp>
        <p:nvCxnSpPr>
          <p:cNvPr id="403" name="Connector 402"/>
          <p:cNvCxnSpPr/>
          <p:nvPr/>
        </p:nvCxnSpPr>
        <p:spPr>
          <a:xfrm>
            <a:off x="9321392" y="7445045"/>
            <a:ext cx="548640" cy="0"/>
          </a:xfrm>
          <a:prstGeom prst="line">
            <a:avLst/>
          </a:prstGeom>
          <a:ln w="15240">
            <a:solidFill>
              <a:srgbClr val="F26B00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TextBox 403"/>
          <p:cNvSpPr txBox="1"/>
          <p:nvPr/>
        </p:nvSpPr>
        <p:spPr>
          <a:xfrm>
            <a:off x="10043768" y="7289596"/>
            <a:ext cx="3030018" cy="36576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r>
              <a:rPr sz="1000" dirty="0">
                <a:solidFill>
                  <a:srgbClr val="111111"/>
                </a:solidFill>
                <a:latin typeface="Arial"/>
              </a:rPr>
              <a:t>Dashed arrows:</a:t>
            </a:r>
          </a:p>
          <a:p>
            <a:r>
              <a:rPr sz="1000" dirty="0">
                <a:solidFill>
                  <a:srgbClr val="111111"/>
                </a:solidFill>
                <a:latin typeface="Arial"/>
              </a:rPr>
              <a:t>Holdout stations dynamically appended at inference</a:t>
            </a:r>
          </a:p>
        </p:txBody>
      </p:sp>
      <p:sp>
        <p:nvSpPr>
          <p:cNvPr id="406" name="Rounded Rectangle 358">
            <a:extLst>
              <a:ext uri="{FF2B5EF4-FFF2-40B4-BE49-F238E27FC236}">
                <a16:creationId xmlns:a16="http://schemas.microsoft.com/office/drawing/2014/main" id="{AA13FCB1-9CEC-61BC-EE79-B1B160555F92}"/>
              </a:ext>
            </a:extLst>
          </p:cNvPr>
          <p:cNvSpPr/>
          <p:nvPr/>
        </p:nvSpPr>
        <p:spPr>
          <a:xfrm>
            <a:off x="12737104" y="6089904"/>
            <a:ext cx="5669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7" name="TextBox 359">
            <a:extLst>
              <a:ext uri="{FF2B5EF4-FFF2-40B4-BE49-F238E27FC236}">
                <a16:creationId xmlns:a16="http://schemas.microsoft.com/office/drawing/2014/main" id="{566A3194-9121-81FE-5310-002EB6EDA319}"/>
              </a:ext>
            </a:extLst>
          </p:cNvPr>
          <p:cNvSpPr txBox="1"/>
          <p:nvPr/>
        </p:nvSpPr>
        <p:spPr>
          <a:xfrm>
            <a:off x="12749296" y="6158484"/>
            <a:ext cx="543032" cy="246888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062452"/>
                </a:solidFill>
                <a:latin typeface="Arial"/>
              </a:rPr>
              <a:t>RMSE</a:t>
            </a:r>
          </a:p>
        </p:txBody>
      </p:sp>
      <p:sp>
        <p:nvSpPr>
          <p:cNvPr id="408" name="Rounded Rectangle 358">
            <a:extLst>
              <a:ext uri="{FF2B5EF4-FFF2-40B4-BE49-F238E27FC236}">
                <a16:creationId xmlns:a16="http://schemas.microsoft.com/office/drawing/2014/main" id="{AAA3B96A-AFB6-A60B-89AE-DE4FF3612339}"/>
              </a:ext>
            </a:extLst>
          </p:cNvPr>
          <p:cNvSpPr/>
          <p:nvPr/>
        </p:nvSpPr>
        <p:spPr>
          <a:xfrm>
            <a:off x="13526414" y="6089904"/>
            <a:ext cx="56692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B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409" name="TextBox 359">
            <a:extLst>
              <a:ext uri="{FF2B5EF4-FFF2-40B4-BE49-F238E27FC236}">
                <a16:creationId xmlns:a16="http://schemas.microsoft.com/office/drawing/2014/main" id="{ED239009-9C0C-DECA-F13C-926DFA1137C5}"/>
              </a:ext>
            </a:extLst>
          </p:cNvPr>
          <p:cNvSpPr txBox="1"/>
          <p:nvPr/>
        </p:nvSpPr>
        <p:spPr>
          <a:xfrm>
            <a:off x="13612368" y="6208776"/>
            <a:ext cx="402336" cy="12801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lang="en-US" sz="1200" b="1" dirty="0">
                <a:solidFill>
                  <a:srgbClr val="062452"/>
                </a:solidFill>
                <a:latin typeface="Arial"/>
              </a:rPr>
              <a:t>R</a:t>
            </a:r>
            <a:r>
              <a:rPr lang="en-US" altLang="zh-CN" sz="1200" b="1" dirty="0">
                <a:solidFill>
                  <a:srgbClr val="062452"/>
                </a:solidFill>
                <a:latin typeface="Arial"/>
              </a:rPr>
              <a:t>²</a:t>
            </a:r>
            <a:endParaRPr sz="1200" b="1" dirty="0">
              <a:solidFill>
                <a:srgbClr val="062452"/>
              </a:solidFill>
              <a:latin typeface="Arial"/>
            </a:endParaRPr>
          </a:p>
        </p:txBody>
      </p:sp>
      <p:sp>
        <p:nvSpPr>
          <p:cNvPr id="419" name="任意多边形: 形状 418">
            <a:extLst>
              <a:ext uri="{FF2B5EF4-FFF2-40B4-BE49-F238E27FC236}">
                <a16:creationId xmlns:a16="http://schemas.microsoft.com/office/drawing/2014/main" id="{3AF74DFA-AA50-AE14-92A4-9A97C0EF4FC7}"/>
              </a:ext>
            </a:extLst>
          </p:cNvPr>
          <p:cNvSpPr/>
          <p:nvPr/>
        </p:nvSpPr>
        <p:spPr>
          <a:xfrm rot="21442463">
            <a:off x="3245425" y="4314296"/>
            <a:ext cx="433766" cy="464542"/>
          </a:xfrm>
          <a:custGeom>
            <a:avLst/>
            <a:gdLst>
              <a:gd name="connsiteX0" fmla="*/ 0 w 450148"/>
              <a:gd name="connsiteY0" fmla="*/ 373416 h 392715"/>
              <a:gd name="connsiteX1" fmla="*/ 243840 w 450148"/>
              <a:gd name="connsiteY1" fmla="*/ 36 h 392715"/>
              <a:gd name="connsiteX2" fmla="*/ 426720 w 450148"/>
              <a:gd name="connsiteY2" fmla="*/ 350556 h 392715"/>
              <a:gd name="connsiteX3" fmla="*/ 441960 w 450148"/>
              <a:gd name="connsiteY3" fmla="*/ 373416 h 39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148" h="392715">
                <a:moveTo>
                  <a:pt x="0" y="373416"/>
                </a:moveTo>
                <a:cubicBezTo>
                  <a:pt x="86360" y="188631"/>
                  <a:pt x="172720" y="3846"/>
                  <a:pt x="243840" y="36"/>
                </a:cubicBezTo>
                <a:cubicBezTo>
                  <a:pt x="314960" y="-3774"/>
                  <a:pt x="393700" y="288326"/>
                  <a:pt x="426720" y="350556"/>
                </a:cubicBezTo>
                <a:cubicBezTo>
                  <a:pt x="459740" y="412786"/>
                  <a:pt x="450850" y="393101"/>
                  <a:pt x="441960" y="373416"/>
                </a:cubicBezTo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Connector 106"/>
          <p:cNvCxnSpPr>
            <a:cxnSpLocks/>
            <a:stCxn id="419" idx="1"/>
          </p:cNvCxnSpPr>
          <p:nvPr/>
        </p:nvCxnSpPr>
        <p:spPr>
          <a:xfrm>
            <a:off x="3469734" y="4313754"/>
            <a:ext cx="0" cy="498183"/>
          </a:xfrm>
          <a:prstGeom prst="line">
            <a:avLst/>
          </a:prstGeom>
          <a:ln w="10160">
            <a:solidFill>
              <a:srgbClr val="0624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直接连接符 423">
            <a:extLst>
              <a:ext uri="{FF2B5EF4-FFF2-40B4-BE49-F238E27FC236}">
                <a16:creationId xmlns:a16="http://schemas.microsoft.com/office/drawing/2014/main" id="{540F76A9-0D1A-E6C6-C7F2-47C0F7AF75A4}"/>
              </a:ext>
            </a:extLst>
          </p:cNvPr>
          <p:cNvCxnSpPr/>
          <p:nvPr/>
        </p:nvCxnSpPr>
        <p:spPr>
          <a:xfrm>
            <a:off x="3118104" y="4754880"/>
            <a:ext cx="7132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6" name="图形 425">
            <a:extLst>
              <a:ext uri="{FF2B5EF4-FFF2-40B4-BE49-F238E27FC236}">
                <a16:creationId xmlns:a16="http://schemas.microsoft.com/office/drawing/2014/main" id="{E53C5FBC-857B-BB52-EAAC-BA3A298F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176" y="1512110"/>
            <a:ext cx="487072" cy="487072"/>
          </a:xfrm>
          <a:prstGeom prst="rect">
            <a:avLst/>
          </a:prstGeom>
        </p:spPr>
      </p:pic>
      <p:pic>
        <p:nvPicPr>
          <p:cNvPr id="427" name="图形 426">
            <a:extLst>
              <a:ext uri="{FF2B5EF4-FFF2-40B4-BE49-F238E27FC236}">
                <a16:creationId xmlns:a16="http://schemas.microsoft.com/office/drawing/2014/main" id="{DDEF4855-6021-073C-3C4F-C650E064F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996" y="3964532"/>
            <a:ext cx="487072" cy="487072"/>
          </a:xfrm>
          <a:prstGeom prst="rect">
            <a:avLst/>
          </a:prstGeom>
        </p:spPr>
      </p:pic>
      <p:grpSp>
        <p:nvGrpSpPr>
          <p:cNvPr id="482" name="组合 481">
            <a:extLst>
              <a:ext uri="{FF2B5EF4-FFF2-40B4-BE49-F238E27FC236}">
                <a16:creationId xmlns:a16="http://schemas.microsoft.com/office/drawing/2014/main" id="{6641AD1A-E7BE-3CBA-3AF9-AA23D9411335}"/>
              </a:ext>
            </a:extLst>
          </p:cNvPr>
          <p:cNvGrpSpPr>
            <a:grpSpLocks noChangeAspect="1"/>
          </p:cNvGrpSpPr>
          <p:nvPr/>
        </p:nvGrpSpPr>
        <p:grpSpPr>
          <a:xfrm>
            <a:off x="7913426" y="4733365"/>
            <a:ext cx="647366" cy="341555"/>
            <a:chOff x="5845454" y="2056546"/>
            <a:chExt cx="1371233" cy="723473"/>
          </a:xfrm>
        </p:grpSpPr>
        <p:cxnSp>
          <p:nvCxnSpPr>
            <p:cNvPr id="442" name="Connector 134">
              <a:extLst>
                <a:ext uri="{FF2B5EF4-FFF2-40B4-BE49-F238E27FC236}">
                  <a16:creationId xmlns:a16="http://schemas.microsoft.com/office/drawing/2014/main" id="{7A1EE48E-0303-F308-4EF6-92797FE2F373}"/>
                </a:ext>
              </a:extLst>
            </p:cNvPr>
            <p:cNvCxnSpPr>
              <a:cxnSpLocks/>
            </p:cNvCxnSpPr>
            <p:nvPr/>
          </p:nvCxnSpPr>
          <p:spPr>
            <a:xfrm>
              <a:off x="5887516" y="2216383"/>
              <a:ext cx="277612" cy="5047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Connector 135">
              <a:extLst>
                <a:ext uri="{FF2B5EF4-FFF2-40B4-BE49-F238E27FC236}">
                  <a16:creationId xmlns:a16="http://schemas.microsoft.com/office/drawing/2014/main" id="{EDD769E1-16B4-0040-1E71-C41B10F4A1B9}"/>
                </a:ext>
              </a:extLst>
            </p:cNvPr>
            <p:cNvCxnSpPr>
              <a:cxnSpLocks/>
            </p:cNvCxnSpPr>
            <p:nvPr/>
          </p:nvCxnSpPr>
          <p:spPr>
            <a:xfrm>
              <a:off x="5887516" y="2216383"/>
              <a:ext cx="210312" cy="353324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Connector 136">
              <a:extLst>
                <a:ext uri="{FF2B5EF4-FFF2-40B4-BE49-F238E27FC236}">
                  <a16:creationId xmlns:a16="http://schemas.microsoft.com/office/drawing/2014/main" id="{8DC1199A-5CCE-FEAD-0EC4-F495D5DC0F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128" y="2098608"/>
              <a:ext cx="218725" cy="16825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Connector 137">
              <a:extLst>
                <a:ext uri="{FF2B5EF4-FFF2-40B4-BE49-F238E27FC236}">
                  <a16:creationId xmlns:a16="http://schemas.microsoft.com/office/drawing/2014/main" id="{B17C26D2-D717-CDE4-C9BD-2E2687A296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7828" y="2266858"/>
              <a:ext cx="67300" cy="3028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Connector 138">
              <a:extLst>
                <a:ext uri="{FF2B5EF4-FFF2-40B4-BE49-F238E27FC236}">
                  <a16:creationId xmlns:a16="http://schemas.microsoft.com/office/drawing/2014/main" id="{26C6579C-EB37-4E58-E224-C2F1F8A3E267}"/>
                </a:ext>
              </a:extLst>
            </p:cNvPr>
            <p:cNvCxnSpPr>
              <a:cxnSpLocks/>
            </p:cNvCxnSpPr>
            <p:nvPr/>
          </p:nvCxnSpPr>
          <p:spPr>
            <a:xfrm>
              <a:off x="6165128" y="2266858"/>
              <a:ext cx="286024" cy="3701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Connector 139">
              <a:extLst>
                <a:ext uri="{FF2B5EF4-FFF2-40B4-BE49-F238E27FC236}">
                  <a16:creationId xmlns:a16="http://schemas.microsoft.com/office/drawing/2014/main" id="{96214CEC-D0FE-831D-12A8-661FCEC99DC3}"/>
                </a:ext>
              </a:extLst>
            </p:cNvPr>
            <p:cNvCxnSpPr>
              <a:cxnSpLocks/>
            </p:cNvCxnSpPr>
            <p:nvPr/>
          </p:nvCxnSpPr>
          <p:spPr>
            <a:xfrm>
              <a:off x="6383853" y="2098608"/>
              <a:ext cx="134599" cy="28602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ctor 140">
              <a:extLst>
                <a:ext uri="{FF2B5EF4-FFF2-40B4-BE49-F238E27FC236}">
                  <a16:creationId xmlns:a16="http://schemas.microsoft.com/office/drawing/2014/main" id="{63994BC7-F590-516A-E02A-7C41418159A3}"/>
                </a:ext>
              </a:extLst>
            </p:cNvPr>
            <p:cNvCxnSpPr>
              <a:cxnSpLocks/>
            </p:cNvCxnSpPr>
            <p:nvPr/>
          </p:nvCxnSpPr>
          <p:spPr>
            <a:xfrm>
              <a:off x="6383853" y="2098608"/>
              <a:ext cx="420624" cy="92538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Connector 141">
              <a:extLst>
                <a:ext uri="{FF2B5EF4-FFF2-40B4-BE49-F238E27FC236}">
                  <a16:creationId xmlns:a16="http://schemas.microsoft.com/office/drawing/2014/main" id="{B1504836-243C-3B70-EB1E-D04439899AFD}"/>
                </a:ext>
              </a:extLst>
            </p:cNvPr>
            <p:cNvCxnSpPr>
              <a:cxnSpLocks/>
            </p:cNvCxnSpPr>
            <p:nvPr/>
          </p:nvCxnSpPr>
          <p:spPr>
            <a:xfrm>
              <a:off x="6383853" y="2098608"/>
              <a:ext cx="67299" cy="53839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Connector 142">
              <a:extLst>
                <a:ext uri="{FF2B5EF4-FFF2-40B4-BE49-F238E27FC236}">
                  <a16:creationId xmlns:a16="http://schemas.microsoft.com/office/drawing/2014/main" id="{544D4B48-4FF1-26A2-0EB2-5E941B69856C}"/>
                </a:ext>
              </a:extLst>
            </p:cNvPr>
            <p:cNvCxnSpPr>
              <a:cxnSpLocks/>
            </p:cNvCxnSpPr>
            <p:nvPr/>
          </p:nvCxnSpPr>
          <p:spPr>
            <a:xfrm>
              <a:off x="6518452" y="2384633"/>
              <a:ext cx="210312" cy="3028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Connector 143">
              <a:extLst>
                <a:ext uri="{FF2B5EF4-FFF2-40B4-BE49-F238E27FC236}">
                  <a16:creationId xmlns:a16="http://schemas.microsoft.com/office/drawing/2014/main" id="{11446BA9-1157-27A7-93E8-CA12B2EBFC0F}"/>
                </a:ext>
              </a:extLst>
            </p:cNvPr>
            <p:cNvCxnSpPr>
              <a:cxnSpLocks/>
            </p:cNvCxnSpPr>
            <p:nvPr/>
          </p:nvCxnSpPr>
          <p:spPr>
            <a:xfrm>
              <a:off x="6804477" y="2191146"/>
              <a:ext cx="168249" cy="311262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Connector 144">
              <a:extLst>
                <a:ext uri="{FF2B5EF4-FFF2-40B4-BE49-F238E27FC236}">
                  <a16:creationId xmlns:a16="http://schemas.microsoft.com/office/drawing/2014/main" id="{8CEE266C-EC39-1C9D-CEFE-70A939225A53}"/>
                </a:ext>
              </a:extLst>
            </p:cNvPr>
            <p:cNvCxnSpPr>
              <a:cxnSpLocks/>
            </p:cNvCxnSpPr>
            <p:nvPr/>
          </p:nvCxnSpPr>
          <p:spPr>
            <a:xfrm>
              <a:off x="6804477" y="2191146"/>
              <a:ext cx="319674" cy="75712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nector 145">
              <a:extLst>
                <a:ext uri="{FF2B5EF4-FFF2-40B4-BE49-F238E27FC236}">
                  <a16:creationId xmlns:a16="http://schemas.microsoft.com/office/drawing/2014/main" id="{4CCF3BC1-2EE3-594F-D53B-18A7E93636FD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28" y="2569707"/>
              <a:ext cx="353324" cy="6730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Connector 146">
              <a:extLst>
                <a:ext uri="{FF2B5EF4-FFF2-40B4-BE49-F238E27FC236}">
                  <a16:creationId xmlns:a16="http://schemas.microsoft.com/office/drawing/2014/main" id="{3DE9AB82-7CA0-01CC-865E-3AEE082C6B71}"/>
                </a:ext>
              </a:extLst>
            </p:cNvPr>
            <p:cNvCxnSpPr>
              <a:cxnSpLocks/>
            </p:cNvCxnSpPr>
            <p:nvPr/>
          </p:nvCxnSpPr>
          <p:spPr>
            <a:xfrm>
              <a:off x="6451152" y="2637007"/>
              <a:ext cx="277612" cy="5047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Connector 147">
              <a:extLst>
                <a:ext uri="{FF2B5EF4-FFF2-40B4-BE49-F238E27FC236}">
                  <a16:creationId xmlns:a16="http://schemas.microsoft.com/office/drawing/2014/main" id="{8E861D33-CCA5-FA7C-FB2A-61BBF11D6E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726" y="2266858"/>
              <a:ext cx="151425" cy="23555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Connector 148">
              <a:extLst>
                <a:ext uri="{FF2B5EF4-FFF2-40B4-BE49-F238E27FC236}">
                  <a16:creationId xmlns:a16="http://schemas.microsoft.com/office/drawing/2014/main" id="{E9FE9619-4001-615F-B615-DACD6532ED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8764" y="2502408"/>
              <a:ext cx="243962" cy="185074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7" name="Oval 149">
              <a:extLst>
                <a:ext uri="{FF2B5EF4-FFF2-40B4-BE49-F238E27FC236}">
                  <a16:creationId xmlns:a16="http://schemas.microsoft.com/office/drawing/2014/main" id="{559105D6-2CEB-9BD6-DB3B-5619AD8D527B}"/>
                </a:ext>
              </a:extLst>
            </p:cNvPr>
            <p:cNvSpPr/>
            <p:nvPr/>
          </p:nvSpPr>
          <p:spPr>
            <a:xfrm>
              <a:off x="5845454" y="2174321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Oval 150">
              <a:extLst>
                <a:ext uri="{FF2B5EF4-FFF2-40B4-BE49-F238E27FC236}">
                  <a16:creationId xmlns:a16="http://schemas.microsoft.com/office/drawing/2014/main" id="{8B3D9F29-5465-2176-E048-9991CAD7520A}"/>
                </a:ext>
              </a:extLst>
            </p:cNvPr>
            <p:cNvSpPr/>
            <p:nvPr/>
          </p:nvSpPr>
          <p:spPr>
            <a:xfrm>
              <a:off x="6123066" y="222479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9" name="Oval 151">
              <a:extLst>
                <a:ext uri="{FF2B5EF4-FFF2-40B4-BE49-F238E27FC236}">
                  <a16:creationId xmlns:a16="http://schemas.microsoft.com/office/drawing/2014/main" id="{F01D4198-78E9-D4F1-2A20-7DE4694F0B9D}"/>
                </a:ext>
              </a:extLst>
            </p:cNvPr>
            <p:cNvSpPr/>
            <p:nvPr/>
          </p:nvSpPr>
          <p:spPr>
            <a:xfrm>
              <a:off x="6341790" y="205654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0" name="Oval 152">
              <a:extLst>
                <a:ext uri="{FF2B5EF4-FFF2-40B4-BE49-F238E27FC236}">
                  <a16:creationId xmlns:a16="http://schemas.microsoft.com/office/drawing/2014/main" id="{18404525-A5AC-C8D5-B56A-B7442A3F4F85}"/>
                </a:ext>
              </a:extLst>
            </p:cNvPr>
            <p:cNvSpPr/>
            <p:nvPr/>
          </p:nvSpPr>
          <p:spPr>
            <a:xfrm>
              <a:off x="6476390" y="2342570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1" name="Oval 153">
              <a:extLst>
                <a:ext uri="{FF2B5EF4-FFF2-40B4-BE49-F238E27FC236}">
                  <a16:creationId xmlns:a16="http://schemas.microsoft.com/office/drawing/2014/main" id="{FA4874D0-8313-F358-9ED7-E3CB36BA1CB4}"/>
                </a:ext>
              </a:extLst>
            </p:cNvPr>
            <p:cNvSpPr/>
            <p:nvPr/>
          </p:nvSpPr>
          <p:spPr>
            <a:xfrm>
              <a:off x="6762414" y="2149083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2" name="Oval 154">
              <a:extLst>
                <a:ext uri="{FF2B5EF4-FFF2-40B4-BE49-F238E27FC236}">
                  <a16:creationId xmlns:a16="http://schemas.microsoft.com/office/drawing/2014/main" id="{3FF49071-2E17-C663-7FD7-E6B522248F71}"/>
                </a:ext>
              </a:extLst>
            </p:cNvPr>
            <p:cNvSpPr/>
            <p:nvPr/>
          </p:nvSpPr>
          <p:spPr>
            <a:xfrm>
              <a:off x="6055766" y="25276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3" name="Oval 155">
              <a:extLst>
                <a:ext uri="{FF2B5EF4-FFF2-40B4-BE49-F238E27FC236}">
                  <a16:creationId xmlns:a16="http://schemas.microsoft.com/office/drawing/2014/main" id="{4610C918-8A26-278E-0C77-A326323076BA}"/>
                </a:ext>
              </a:extLst>
            </p:cNvPr>
            <p:cNvSpPr/>
            <p:nvPr/>
          </p:nvSpPr>
          <p:spPr>
            <a:xfrm>
              <a:off x="6409090" y="25949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4" name="Oval 156">
              <a:extLst>
                <a:ext uri="{FF2B5EF4-FFF2-40B4-BE49-F238E27FC236}">
                  <a16:creationId xmlns:a16="http://schemas.microsoft.com/office/drawing/2014/main" id="{A6CA6A8A-EFEE-0C6D-8BAD-EAFD20AA6029}"/>
                </a:ext>
              </a:extLst>
            </p:cNvPr>
            <p:cNvSpPr/>
            <p:nvPr/>
          </p:nvSpPr>
          <p:spPr>
            <a:xfrm>
              <a:off x="6930664" y="24603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5" name="Oval 157">
              <a:extLst>
                <a:ext uri="{FF2B5EF4-FFF2-40B4-BE49-F238E27FC236}">
                  <a16:creationId xmlns:a16="http://schemas.microsoft.com/office/drawing/2014/main" id="{28E80B59-57D5-8E3B-0A0C-BEBE9CFBA4F6}"/>
                </a:ext>
              </a:extLst>
            </p:cNvPr>
            <p:cNvSpPr/>
            <p:nvPr/>
          </p:nvSpPr>
          <p:spPr>
            <a:xfrm>
              <a:off x="7082088" y="222479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6" name="Oval 158">
              <a:extLst>
                <a:ext uri="{FF2B5EF4-FFF2-40B4-BE49-F238E27FC236}">
                  <a16:creationId xmlns:a16="http://schemas.microsoft.com/office/drawing/2014/main" id="{03A3975B-8C75-03D3-0B62-BFBC0A3C9DE9}"/>
                </a:ext>
              </a:extLst>
            </p:cNvPr>
            <p:cNvSpPr/>
            <p:nvPr/>
          </p:nvSpPr>
          <p:spPr>
            <a:xfrm>
              <a:off x="6686702" y="2645420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483" name="任意多边形: 形状 482">
            <a:extLst>
              <a:ext uri="{FF2B5EF4-FFF2-40B4-BE49-F238E27FC236}">
                <a16:creationId xmlns:a16="http://schemas.microsoft.com/office/drawing/2014/main" id="{09F2B356-A55C-9E89-29A3-83B6BEE001BB}"/>
              </a:ext>
            </a:extLst>
          </p:cNvPr>
          <p:cNvSpPr/>
          <p:nvPr/>
        </p:nvSpPr>
        <p:spPr>
          <a:xfrm>
            <a:off x="9685808" y="5408301"/>
            <a:ext cx="426554" cy="395526"/>
          </a:xfrm>
          <a:custGeom>
            <a:avLst/>
            <a:gdLst>
              <a:gd name="connsiteX0" fmla="*/ 0 w 538843"/>
              <a:gd name="connsiteY0" fmla="*/ 342900 h 342900"/>
              <a:gd name="connsiteX1" fmla="*/ 416379 w 538843"/>
              <a:gd name="connsiteY1" fmla="*/ 228600 h 342900"/>
              <a:gd name="connsiteX2" fmla="*/ 538843 w 538843"/>
              <a:gd name="connsiteY2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843" h="342900">
                <a:moveTo>
                  <a:pt x="0" y="342900"/>
                </a:moveTo>
                <a:cubicBezTo>
                  <a:pt x="163286" y="314325"/>
                  <a:pt x="326572" y="285750"/>
                  <a:pt x="416379" y="228600"/>
                </a:cubicBezTo>
                <a:cubicBezTo>
                  <a:pt x="506186" y="171450"/>
                  <a:pt x="522514" y="85725"/>
                  <a:pt x="538843" y="0"/>
                </a:cubicBezTo>
              </a:path>
            </a:pathLst>
          </a:cu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4" name="Oval 258">
            <a:extLst>
              <a:ext uri="{FF2B5EF4-FFF2-40B4-BE49-F238E27FC236}">
                <a16:creationId xmlns:a16="http://schemas.microsoft.com/office/drawing/2014/main" id="{5836DE92-8121-CE0B-78BF-CC9DD76A3A6C}"/>
              </a:ext>
            </a:extLst>
          </p:cNvPr>
          <p:cNvSpPr/>
          <p:nvPr/>
        </p:nvSpPr>
        <p:spPr>
          <a:xfrm>
            <a:off x="10076931" y="5724601"/>
            <a:ext cx="32004" cy="32004"/>
          </a:xfrm>
          <a:prstGeom prst="ellipse">
            <a:avLst/>
          </a:prstGeom>
          <a:solidFill>
            <a:srgbClr val="1567B7"/>
          </a:solidFill>
          <a:ln w="1270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85" name="组合 484">
            <a:extLst>
              <a:ext uri="{FF2B5EF4-FFF2-40B4-BE49-F238E27FC236}">
                <a16:creationId xmlns:a16="http://schemas.microsoft.com/office/drawing/2014/main" id="{AAF8D7FF-35CB-DC01-FAA1-5BB4052F5A80}"/>
              </a:ext>
            </a:extLst>
          </p:cNvPr>
          <p:cNvGrpSpPr>
            <a:grpSpLocks noChangeAspect="1"/>
          </p:cNvGrpSpPr>
          <p:nvPr/>
        </p:nvGrpSpPr>
        <p:grpSpPr>
          <a:xfrm>
            <a:off x="9514322" y="2456072"/>
            <a:ext cx="783954" cy="413620"/>
            <a:chOff x="5845454" y="2056546"/>
            <a:chExt cx="1371233" cy="723473"/>
          </a:xfrm>
        </p:grpSpPr>
        <p:cxnSp>
          <p:nvCxnSpPr>
            <p:cNvPr id="486" name="Connector 134">
              <a:extLst>
                <a:ext uri="{FF2B5EF4-FFF2-40B4-BE49-F238E27FC236}">
                  <a16:creationId xmlns:a16="http://schemas.microsoft.com/office/drawing/2014/main" id="{68358716-B8F9-59FC-9AD9-B17430B3FE54}"/>
                </a:ext>
              </a:extLst>
            </p:cNvPr>
            <p:cNvCxnSpPr>
              <a:cxnSpLocks/>
            </p:cNvCxnSpPr>
            <p:nvPr/>
          </p:nvCxnSpPr>
          <p:spPr>
            <a:xfrm>
              <a:off x="5887516" y="2216383"/>
              <a:ext cx="277612" cy="5047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Connector 135">
              <a:extLst>
                <a:ext uri="{FF2B5EF4-FFF2-40B4-BE49-F238E27FC236}">
                  <a16:creationId xmlns:a16="http://schemas.microsoft.com/office/drawing/2014/main" id="{7DA9D62A-B64A-8E35-C15D-A7C6AAEF67FF}"/>
                </a:ext>
              </a:extLst>
            </p:cNvPr>
            <p:cNvCxnSpPr>
              <a:cxnSpLocks/>
            </p:cNvCxnSpPr>
            <p:nvPr/>
          </p:nvCxnSpPr>
          <p:spPr>
            <a:xfrm>
              <a:off x="5887516" y="2216383"/>
              <a:ext cx="210312" cy="353324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nector 136">
              <a:extLst>
                <a:ext uri="{FF2B5EF4-FFF2-40B4-BE49-F238E27FC236}">
                  <a16:creationId xmlns:a16="http://schemas.microsoft.com/office/drawing/2014/main" id="{26BCCA48-1B7F-AD5E-FA98-15EA37084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5128" y="2098608"/>
              <a:ext cx="218725" cy="16825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Connector 137">
              <a:extLst>
                <a:ext uri="{FF2B5EF4-FFF2-40B4-BE49-F238E27FC236}">
                  <a16:creationId xmlns:a16="http://schemas.microsoft.com/office/drawing/2014/main" id="{10BFA162-3761-3E5F-57EF-35971F72D3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7828" y="2266858"/>
              <a:ext cx="67300" cy="3028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Connector 138">
              <a:extLst>
                <a:ext uri="{FF2B5EF4-FFF2-40B4-BE49-F238E27FC236}">
                  <a16:creationId xmlns:a16="http://schemas.microsoft.com/office/drawing/2014/main" id="{AB28CA0B-5094-A111-FAD2-6D85DD908CA5}"/>
                </a:ext>
              </a:extLst>
            </p:cNvPr>
            <p:cNvCxnSpPr>
              <a:cxnSpLocks/>
            </p:cNvCxnSpPr>
            <p:nvPr/>
          </p:nvCxnSpPr>
          <p:spPr>
            <a:xfrm>
              <a:off x="6165128" y="2266858"/>
              <a:ext cx="286024" cy="3701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Connector 139">
              <a:extLst>
                <a:ext uri="{FF2B5EF4-FFF2-40B4-BE49-F238E27FC236}">
                  <a16:creationId xmlns:a16="http://schemas.microsoft.com/office/drawing/2014/main" id="{457A83A2-5A7A-4257-9F7B-A143060EDC5B}"/>
                </a:ext>
              </a:extLst>
            </p:cNvPr>
            <p:cNvCxnSpPr>
              <a:cxnSpLocks/>
            </p:cNvCxnSpPr>
            <p:nvPr/>
          </p:nvCxnSpPr>
          <p:spPr>
            <a:xfrm>
              <a:off x="6383853" y="2098608"/>
              <a:ext cx="134599" cy="28602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nector 140">
              <a:extLst>
                <a:ext uri="{FF2B5EF4-FFF2-40B4-BE49-F238E27FC236}">
                  <a16:creationId xmlns:a16="http://schemas.microsoft.com/office/drawing/2014/main" id="{13433ECC-FA32-A135-A12D-50581A7F432A}"/>
                </a:ext>
              </a:extLst>
            </p:cNvPr>
            <p:cNvCxnSpPr>
              <a:cxnSpLocks/>
            </p:cNvCxnSpPr>
            <p:nvPr/>
          </p:nvCxnSpPr>
          <p:spPr>
            <a:xfrm>
              <a:off x="6383853" y="2098608"/>
              <a:ext cx="420624" cy="92538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Connector 141">
              <a:extLst>
                <a:ext uri="{FF2B5EF4-FFF2-40B4-BE49-F238E27FC236}">
                  <a16:creationId xmlns:a16="http://schemas.microsoft.com/office/drawing/2014/main" id="{E30599F7-CD18-1B95-7B30-AD20C0695A36}"/>
                </a:ext>
              </a:extLst>
            </p:cNvPr>
            <p:cNvCxnSpPr>
              <a:cxnSpLocks/>
            </p:cNvCxnSpPr>
            <p:nvPr/>
          </p:nvCxnSpPr>
          <p:spPr>
            <a:xfrm>
              <a:off x="6383853" y="2098608"/>
              <a:ext cx="67299" cy="53839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Connector 142">
              <a:extLst>
                <a:ext uri="{FF2B5EF4-FFF2-40B4-BE49-F238E27FC236}">
                  <a16:creationId xmlns:a16="http://schemas.microsoft.com/office/drawing/2014/main" id="{95718CD0-60FD-A12F-475F-A22698874B17}"/>
                </a:ext>
              </a:extLst>
            </p:cNvPr>
            <p:cNvCxnSpPr>
              <a:cxnSpLocks/>
            </p:cNvCxnSpPr>
            <p:nvPr/>
          </p:nvCxnSpPr>
          <p:spPr>
            <a:xfrm>
              <a:off x="6518452" y="2384633"/>
              <a:ext cx="210312" cy="3028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Connector 143">
              <a:extLst>
                <a:ext uri="{FF2B5EF4-FFF2-40B4-BE49-F238E27FC236}">
                  <a16:creationId xmlns:a16="http://schemas.microsoft.com/office/drawing/2014/main" id="{7AD2D803-8F6F-94E3-9625-37A18666D260}"/>
                </a:ext>
              </a:extLst>
            </p:cNvPr>
            <p:cNvCxnSpPr>
              <a:cxnSpLocks/>
            </p:cNvCxnSpPr>
            <p:nvPr/>
          </p:nvCxnSpPr>
          <p:spPr>
            <a:xfrm>
              <a:off x="6804477" y="2191146"/>
              <a:ext cx="168249" cy="311262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nector 144">
              <a:extLst>
                <a:ext uri="{FF2B5EF4-FFF2-40B4-BE49-F238E27FC236}">
                  <a16:creationId xmlns:a16="http://schemas.microsoft.com/office/drawing/2014/main" id="{1E691145-C2A7-A89D-2E42-763F321F28F2}"/>
                </a:ext>
              </a:extLst>
            </p:cNvPr>
            <p:cNvCxnSpPr>
              <a:cxnSpLocks/>
            </p:cNvCxnSpPr>
            <p:nvPr/>
          </p:nvCxnSpPr>
          <p:spPr>
            <a:xfrm>
              <a:off x="6804477" y="2191146"/>
              <a:ext cx="319674" cy="75712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Connector 145">
              <a:extLst>
                <a:ext uri="{FF2B5EF4-FFF2-40B4-BE49-F238E27FC236}">
                  <a16:creationId xmlns:a16="http://schemas.microsoft.com/office/drawing/2014/main" id="{CB1D2703-603A-1D06-C711-7823C229D08D}"/>
                </a:ext>
              </a:extLst>
            </p:cNvPr>
            <p:cNvCxnSpPr>
              <a:cxnSpLocks/>
            </p:cNvCxnSpPr>
            <p:nvPr/>
          </p:nvCxnSpPr>
          <p:spPr>
            <a:xfrm>
              <a:off x="6097828" y="2569707"/>
              <a:ext cx="353324" cy="6730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Connector 146">
              <a:extLst>
                <a:ext uri="{FF2B5EF4-FFF2-40B4-BE49-F238E27FC236}">
                  <a16:creationId xmlns:a16="http://schemas.microsoft.com/office/drawing/2014/main" id="{D3FBB276-21CC-F55C-56C9-D4CE4C94A639}"/>
                </a:ext>
              </a:extLst>
            </p:cNvPr>
            <p:cNvCxnSpPr>
              <a:cxnSpLocks/>
            </p:cNvCxnSpPr>
            <p:nvPr/>
          </p:nvCxnSpPr>
          <p:spPr>
            <a:xfrm>
              <a:off x="6451152" y="2637007"/>
              <a:ext cx="277612" cy="5047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Connector 147">
              <a:extLst>
                <a:ext uri="{FF2B5EF4-FFF2-40B4-BE49-F238E27FC236}">
                  <a16:creationId xmlns:a16="http://schemas.microsoft.com/office/drawing/2014/main" id="{344FA579-00B8-E239-4366-D53C649B8B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2726" y="2266858"/>
              <a:ext cx="151425" cy="23555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Connector 148">
              <a:extLst>
                <a:ext uri="{FF2B5EF4-FFF2-40B4-BE49-F238E27FC236}">
                  <a16:creationId xmlns:a16="http://schemas.microsoft.com/office/drawing/2014/main" id="{00111C48-39E8-9E0B-ED57-56850D39BC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28764" y="2502408"/>
              <a:ext cx="243962" cy="185074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1" name="Oval 149">
              <a:extLst>
                <a:ext uri="{FF2B5EF4-FFF2-40B4-BE49-F238E27FC236}">
                  <a16:creationId xmlns:a16="http://schemas.microsoft.com/office/drawing/2014/main" id="{4DE2D883-5317-ECFA-1117-E5864CDF568C}"/>
                </a:ext>
              </a:extLst>
            </p:cNvPr>
            <p:cNvSpPr/>
            <p:nvPr/>
          </p:nvSpPr>
          <p:spPr>
            <a:xfrm>
              <a:off x="5845454" y="2174321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2" name="Oval 150">
              <a:extLst>
                <a:ext uri="{FF2B5EF4-FFF2-40B4-BE49-F238E27FC236}">
                  <a16:creationId xmlns:a16="http://schemas.microsoft.com/office/drawing/2014/main" id="{A4879C5A-2E51-8762-63BA-B6441E030C25}"/>
                </a:ext>
              </a:extLst>
            </p:cNvPr>
            <p:cNvSpPr/>
            <p:nvPr/>
          </p:nvSpPr>
          <p:spPr>
            <a:xfrm>
              <a:off x="6123066" y="222479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3" name="Oval 151">
              <a:extLst>
                <a:ext uri="{FF2B5EF4-FFF2-40B4-BE49-F238E27FC236}">
                  <a16:creationId xmlns:a16="http://schemas.microsoft.com/office/drawing/2014/main" id="{F134932B-DF1B-069F-E321-DFF24B7C0DD9}"/>
                </a:ext>
              </a:extLst>
            </p:cNvPr>
            <p:cNvSpPr/>
            <p:nvPr/>
          </p:nvSpPr>
          <p:spPr>
            <a:xfrm>
              <a:off x="6341790" y="205654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4" name="Oval 152">
              <a:extLst>
                <a:ext uri="{FF2B5EF4-FFF2-40B4-BE49-F238E27FC236}">
                  <a16:creationId xmlns:a16="http://schemas.microsoft.com/office/drawing/2014/main" id="{B535BD2B-0887-0837-3295-2C89C4FF96A4}"/>
                </a:ext>
              </a:extLst>
            </p:cNvPr>
            <p:cNvSpPr/>
            <p:nvPr/>
          </p:nvSpPr>
          <p:spPr>
            <a:xfrm>
              <a:off x="6476390" y="2342570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5" name="Oval 153">
              <a:extLst>
                <a:ext uri="{FF2B5EF4-FFF2-40B4-BE49-F238E27FC236}">
                  <a16:creationId xmlns:a16="http://schemas.microsoft.com/office/drawing/2014/main" id="{E3F51943-DD8E-343A-55D2-91D8C17B13AD}"/>
                </a:ext>
              </a:extLst>
            </p:cNvPr>
            <p:cNvSpPr/>
            <p:nvPr/>
          </p:nvSpPr>
          <p:spPr>
            <a:xfrm>
              <a:off x="6762414" y="2149083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6" name="Oval 154">
              <a:extLst>
                <a:ext uri="{FF2B5EF4-FFF2-40B4-BE49-F238E27FC236}">
                  <a16:creationId xmlns:a16="http://schemas.microsoft.com/office/drawing/2014/main" id="{F1377126-567B-3F71-54D3-23B610560D00}"/>
                </a:ext>
              </a:extLst>
            </p:cNvPr>
            <p:cNvSpPr/>
            <p:nvPr/>
          </p:nvSpPr>
          <p:spPr>
            <a:xfrm>
              <a:off x="6055766" y="25276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7" name="Oval 155">
              <a:extLst>
                <a:ext uri="{FF2B5EF4-FFF2-40B4-BE49-F238E27FC236}">
                  <a16:creationId xmlns:a16="http://schemas.microsoft.com/office/drawing/2014/main" id="{6C90F39C-597A-5E96-984B-A316B77C1BA7}"/>
                </a:ext>
              </a:extLst>
            </p:cNvPr>
            <p:cNvSpPr/>
            <p:nvPr/>
          </p:nvSpPr>
          <p:spPr>
            <a:xfrm>
              <a:off x="6409090" y="25949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8" name="Oval 156">
              <a:extLst>
                <a:ext uri="{FF2B5EF4-FFF2-40B4-BE49-F238E27FC236}">
                  <a16:creationId xmlns:a16="http://schemas.microsoft.com/office/drawing/2014/main" id="{36F2594F-FCC5-4FF9-9772-420DE6E5AF9A}"/>
                </a:ext>
              </a:extLst>
            </p:cNvPr>
            <p:cNvSpPr/>
            <p:nvPr/>
          </p:nvSpPr>
          <p:spPr>
            <a:xfrm>
              <a:off x="6930664" y="24603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9" name="Oval 157">
              <a:extLst>
                <a:ext uri="{FF2B5EF4-FFF2-40B4-BE49-F238E27FC236}">
                  <a16:creationId xmlns:a16="http://schemas.microsoft.com/office/drawing/2014/main" id="{332D4160-F602-54E5-55CF-C94E1FE24E23}"/>
                </a:ext>
              </a:extLst>
            </p:cNvPr>
            <p:cNvSpPr/>
            <p:nvPr/>
          </p:nvSpPr>
          <p:spPr>
            <a:xfrm>
              <a:off x="7082088" y="222479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0" name="Oval 158">
              <a:extLst>
                <a:ext uri="{FF2B5EF4-FFF2-40B4-BE49-F238E27FC236}">
                  <a16:creationId xmlns:a16="http://schemas.microsoft.com/office/drawing/2014/main" id="{CB6AC124-A0E3-4CB6-021C-9CD6297D823D}"/>
                </a:ext>
              </a:extLst>
            </p:cNvPr>
            <p:cNvSpPr/>
            <p:nvPr/>
          </p:nvSpPr>
          <p:spPr>
            <a:xfrm>
              <a:off x="6686702" y="2645420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71" name="TextBox 240">
            <a:extLst>
              <a:ext uri="{FF2B5EF4-FFF2-40B4-BE49-F238E27FC236}">
                <a16:creationId xmlns:a16="http://schemas.microsoft.com/office/drawing/2014/main" id="{589C4339-6646-5990-F5CB-2F5F25E09132}"/>
              </a:ext>
            </a:extLst>
          </p:cNvPr>
          <p:cNvSpPr txBox="1"/>
          <p:nvPr/>
        </p:nvSpPr>
        <p:spPr>
          <a:xfrm>
            <a:off x="10313661" y="4250435"/>
            <a:ext cx="270664" cy="187636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noAutofit/>
          </a:bodyPr>
          <a:lstStyle/>
          <a:p>
            <a:pPr algn="ctr"/>
            <a:r>
              <a:rPr sz="1200" b="0" dirty="0">
                <a:solidFill>
                  <a:srgbClr val="111111"/>
                </a:solidFill>
                <a:latin typeface="Arial"/>
              </a:rPr>
              <a:t>...</a:t>
            </a:r>
          </a:p>
        </p:txBody>
      </p:sp>
      <p:sp>
        <p:nvSpPr>
          <p:cNvPr id="572" name="任意多边形: 形状 571">
            <a:extLst>
              <a:ext uri="{FF2B5EF4-FFF2-40B4-BE49-F238E27FC236}">
                <a16:creationId xmlns:a16="http://schemas.microsoft.com/office/drawing/2014/main" id="{C2FB7890-89CB-F963-C04F-B8DFCC44CA13}"/>
              </a:ext>
            </a:extLst>
          </p:cNvPr>
          <p:cNvSpPr/>
          <p:nvPr/>
        </p:nvSpPr>
        <p:spPr>
          <a:xfrm rot="21442463">
            <a:off x="9754524" y="4145987"/>
            <a:ext cx="433766" cy="464542"/>
          </a:xfrm>
          <a:custGeom>
            <a:avLst/>
            <a:gdLst>
              <a:gd name="connsiteX0" fmla="*/ 0 w 450148"/>
              <a:gd name="connsiteY0" fmla="*/ 373416 h 392715"/>
              <a:gd name="connsiteX1" fmla="*/ 243840 w 450148"/>
              <a:gd name="connsiteY1" fmla="*/ 36 h 392715"/>
              <a:gd name="connsiteX2" fmla="*/ 426720 w 450148"/>
              <a:gd name="connsiteY2" fmla="*/ 350556 h 392715"/>
              <a:gd name="connsiteX3" fmla="*/ 441960 w 450148"/>
              <a:gd name="connsiteY3" fmla="*/ 373416 h 3927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0148" h="392715">
                <a:moveTo>
                  <a:pt x="0" y="373416"/>
                </a:moveTo>
                <a:cubicBezTo>
                  <a:pt x="86360" y="188631"/>
                  <a:pt x="172720" y="3846"/>
                  <a:pt x="243840" y="36"/>
                </a:cubicBezTo>
                <a:cubicBezTo>
                  <a:pt x="314960" y="-3774"/>
                  <a:pt x="393700" y="288326"/>
                  <a:pt x="426720" y="350556"/>
                </a:cubicBezTo>
                <a:cubicBezTo>
                  <a:pt x="459740" y="412786"/>
                  <a:pt x="450850" y="393101"/>
                  <a:pt x="441960" y="373416"/>
                </a:cubicBezTo>
              </a:path>
            </a:pathLst>
          </a:custGeom>
          <a:solidFill>
            <a:schemeClr val="tx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3" name="Connector 106">
            <a:extLst>
              <a:ext uri="{FF2B5EF4-FFF2-40B4-BE49-F238E27FC236}">
                <a16:creationId xmlns:a16="http://schemas.microsoft.com/office/drawing/2014/main" id="{463B7E25-EA38-823F-98A7-F237A71B9302}"/>
              </a:ext>
            </a:extLst>
          </p:cNvPr>
          <p:cNvCxnSpPr>
            <a:cxnSpLocks/>
            <a:stCxn id="572" idx="1"/>
          </p:cNvCxnSpPr>
          <p:nvPr/>
        </p:nvCxnSpPr>
        <p:spPr>
          <a:xfrm>
            <a:off x="9978833" y="4145445"/>
            <a:ext cx="0" cy="498183"/>
          </a:xfrm>
          <a:prstGeom prst="line">
            <a:avLst/>
          </a:prstGeom>
          <a:ln w="10160">
            <a:solidFill>
              <a:srgbClr val="06245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直接连接符 573">
            <a:extLst>
              <a:ext uri="{FF2B5EF4-FFF2-40B4-BE49-F238E27FC236}">
                <a16:creationId xmlns:a16="http://schemas.microsoft.com/office/drawing/2014/main" id="{637D2843-AA38-C343-3325-1AE426A0ACDE}"/>
              </a:ext>
            </a:extLst>
          </p:cNvPr>
          <p:cNvCxnSpPr/>
          <p:nvPr/>
        </p:nvCxnSpPr>
        <p:spPr>
          <a:xfrm>
            <a:off x="9627203" y="4586571"/>
            <a:ext cx="7132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连接符: 肘形 575">
            <a:extLst>
              <a:ext uri="{FF2B5EF4-FFF2-40B4-BE49-F238E27FC236}">
                <a16:creationId xmlns:a16="http://schemas.microsoft.com/office/drawing/2014/main" id="{13761643-E582-D92F-F8EF-A682F08AEF9C}"/>
              </a:ext>
            </a:extLst>
          </p:cNvPr>
          <p:cNvCxnSpPr>
            <a:cxnSpLocks/>
            <a:stCxn id="6" idx="2"/>
            <a:endCxn id="298" idx="1"/>
          </p:cNvCxnSpPr>
          <p:nvPr/>
        </p:nvCxnSpPr>
        <p:spPr>
          <a:xfrm rot="5400000" flipH="1" flipV="1">
            <a:off x="6337554" y="1296162"/>
            <a:ext cx="3046476" cy="7784592"/>
          </a:xfrm>
          <a:prstGeom prst="bentConnector4">
            <a:avLst>
              <a:gd name="adj1" fmla="val -7504"/>
              <a:gd name="adj2" fmla="val 9675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8" name="组合 467">
            <a:extLst>
              <a:ext uri="{FF2B5EF4-FFF2-40B4-BE49-F238E27FC236}">
                <a16:creationId xmlns:a16="http://schemas.microsoft.com/office/drawing/2014/main" id="{2DCD94ED-1A24-8321-42DD-BF23A9CE7CDD}"/>
              </a:ext>
            </a:extLst>
          </p:cNvPr>
          <p:cNvGrpSpPr/>
          <p:nvPr/>
        </p:nvGrpSpPr>
        <p:grpSpPr>
          <a:xfrm>
            <a:off x="7821997" y="2465362"/>
            <a:ext cx="841944" cy="413474"/>
            <a:chOff x="8283609" y="7136892"/>
            <a:chExt cx="274320" cy="274320"/>
          </a:xfrm>
        </p:grpSpPr>
        <p:sp>
          <p:nvSpPr>
            <p:cNvPr id="469" name="Rectangle 379">
              <a:extLst>
                <a:ext uri="{FF2B5EF4-FFF2-40B4-BE49-F238E27FC236}">
                  <a16:creationId xmlns:a16="http://schemas.microsoft.com/office/drawing/2014/main" id="{AAD86F28-5C19-C81A-6290-EF37697C25F8}"/>
                </a:ext>
              </a:extLst>
            </p:cNvPr>
            <p:cNvSpPr/>
            <p:nvPr/>
          </p:nvSpPr>
          <p:spPr>
            <a:xfrm>
              <a:off x="8283609" y="7136892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0" name="Rectangle 380">
              <a:extLst>
                <a:ext uri="{FF2B5EF4-FFF2-40B4-BE49-F238E27FC236}">
                  <a16:creationId xmlns:a16="http://schemas.microsoft.com/office/drawing/2014/main" id="{F38D350E-677B-3640-B5EE-B61AF83B1AC1}"/>
                </a:ext>
              </a:extLst>
            </p:cNvPr>
            <p:cNvSpPr/>
            <p:nvPr/>
          </p:nvSpPr>
          <p:spPr>
            <a:xfrm>
              <a:off x="8375049" y="7136892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1" name="Rectangle 381">
              <a:extLst>
                <a:ext uri="{FF2B5EF4-FFF2-40B4-BE49-F238E27FC236}">
                  <a16:creationId xmlns:a16="http://schemas.microsoft.com/office/drawing/2014/main" id="{FCD6056F-6FF2-1D02-DA06-8BC76B4966C1}"/>
                </a:ext>
              </a:extLst>
            </p:cNvPr>
            <p:cNvSpPr/>
            <p:nvPr/>
          </p:nvSpPr>
          <p:spPr>
            <a:xfrm>
              <a:off x="8466489" y="7136892"/>
              <a:ext cx="91440" cy="91440"/>
            </a:xfrm>
            <a:prstGeom prst="rect">
              <a:avLst/>
            </a:prstGeom>
            <a:solidFill>
              <a:srgbClr val="1567B7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2" name="Rectangle 382">
              <a:extLst>
                <a:ext uri="{FF2B5EF4-FFF2-40B4-BE49-F238E27FC236}">
                  <a16:creationId xmlns:a16="http://schemas.microsoft.com/office/drawing/2014/main" id="{D00CB23E-202E-255B-DA23-17FD6E34D424}"/>
                </a:ext>
              </a:extLst>
            </p:cNvPr>
            <p:cNvSpPr/>
            <p:nvPr/>
          </p:nvSpPr>
          <p:spPr>
            <a:xfrm>
              <a:off x="8283609" y="7228332"/>
              <a:ext cx="91440" cy="91440"/>
            </a:xfrm>
            <a:prstGeom prst="rect">
              <a:avLst/>
            </a:prstGeom>
            <a:solidFill>
              <a:schemeClr val="bg1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3" name="Rectangle 383">
              <a:extLst>
                <a:ext uri="{FF2B5EF4-FFF2-40B4-BE49-F238E27FC236}">
                  <a16:creationId xmlns:a16="http://schemas.microsoft.com/office/drawing/2014/main" id="{6A34481E-EA06-3969-50E2-0B74ED451FF2}"/>
                </a:ext>
              </a:extLst>
            </p:cNvPr>
            <p:cNvSpPr/>
            <p:nvPr/>
          </p:nvSpPr>
          <p:spPr>
            <a:xfrm>
              <a:off x="8375049" y="7228332"/>
              <a:ext cx="91440" cy="91440"/>
            </a:xfrm>
            <a:prstGeom prst="rect">
              <a:avLst/>
            </a:prstGeom>
            <a:solidFill>
              <a:schemeClr val="bg1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5" name="Rectangle 385">
              <a:extLst>
                <a:ext uri="{FF2B5EF4-FFF2-40B4-BE49-F238E27FC236}">
                  <a16:creationId xmlns:a16="http://schemas.microsoft.com/office/drawing/2014/main" id="{365A2C37-3A63-66B5-0BCB-CCC62FDCF632}"/>
                </a:ext>
              </a:extLst>
            </p:cNvPr>
            <p:cNvSpPr/>
            <p:nvPr/>
          </p:nvSpPr>
          <p:spPr>
            <a:xfrm>
              <a:off x="8283609" y="7319772"/>
              <a:ext cx="91440" cy="91440"/>
            </a:xfrm>
            <a:prstGeom prst="rect">
              <a:avLst/>
            </a:prstGeom>
            <a:solidFill>
              <a:schemeClr val="bg1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6" name="Rectangle 386">
              <a:extLst>
                <a:ext uri="{FF2B5EF4-FFF2-40B4-BE49-F238E27FC236}">
                  <a16:creationId xmlns:a16="http://schemas.microsoft.com/office/drawing/2014/main" id="{4A89C581-1AEA-74C0-BED7-7D5D0E33A432}"/>
                </a:ext>
              </a:extLst>
            </p:cNvPr>
            <p:cNvSpPr/>
            <p:nvPr/>
          </p:nvSpPr>
          <p:spPr>
            <a:xfrm>
              <a:off x="8375049" y="7319772"/>
              <a:ext cx="91440" cy="91440"/>
            </a:xfrm>
            <a:prstGeom prst="rect">
              <a:avLst/>
            </a:prstGeom>
            <a:solidFill>
              <a:schemeClr val="bg1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40000" lnSpcReduction="20000"/>
            </a:bodyPr>
            <a:lstStyle/>
            <a:p>
              <a:pPr algn="ctr"/>
              <a:endParaRPr/>
            </a:p>
          </p:txBody>
        </p:sp>
        <p:sp>
          <p:nvSpPr>
            <p:cNvPr id="477" name="Rectangle 387">
              <a:extLst>
                <a:ext uri="{FF2B5EF4-FFF2-40B4-BE49-F238E27FC236}">
                  <a16:creationId xmlns:a16="http://schemas.microsoft.com/office/drawing/2014/main" id="{5ED5DE41-0606-1428-F934-D931B2A4BF03}"/>
                </a:ext>
              </a:extLst>
            </p:cNvPr>
            <p:cNvSpPr/>
            <p:nvPr/>
          </p:nvSpPr>
          <p:spPr>
            <a:xfrm>
              <a:off x="8466488" y="7228333"/>
              <a:ext cx="91440" cy="182878"/>
            </a:xfrm>
            <a:prstGeom prst="rect">
              <a:avLst/>
            </a:prstGeom>
            <a:solidFill>
              <a:schemeClr val="bg1"/>
            </a:solidFill>
            <a:ln w="381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27432" tIns="18288" rIns="27432" bIns="18288" rtlCol="0" anchor="ctr">
              <a:normAutofit fontScale="92500" lnSpcReduction="10000"/>
            </a:bodyPr>
            <a:lstStyle/>
            <a:p>
              <a:pPr algn="ctr"/>
              <a:r>
                <a:rPr lang="en-US" altLang="zh-CN" dirty="0">
                  <a:solidFill>
                    <a:srgbClr val="1567B7"/>
                  </a:solidFill>
                </a:rPr>
                <a:t>…</a:t>
              </a:r>
              <a:endParaRPr dirty="0">
                <a:solidFill>
                  <a:srgbClr val="1567B7"/>
                </a:solidFill>
              </a:endParaRPr>
            </a:p>
          </p:txBody>
        </p:sp>
      </p:grpSp>
      <p:sp>
        <p:nvSpPr>
          <p:cNvPr id="90" name="Rounded Rectangle 161">
            <a:extLst>
              <a:ext uri="{FF2B5EF4-FFF2-40B4-BE49-F238E27FC236}">
                <a16:creationId xmlns:a16="http://schemas.microsoft.com/office/drawing/2014/main" id="{73EA01CE-1D9E-0F67-980B-0CA039B718F3}"/>
              </a:ext>
            </a:extLst>
          </p:cNvPr>
          <p:cNvSpPr/>
          <p:nvPr/>
        </p:nvSpPr>
        <p:spPr>
          <a:xfrm>
            <a:off x="5705856" y="1767834"/>
            <a:ext cx="1470660" cy="94561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67B7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endParaRPr dirty="0"/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499B3FD1-5905-02C6-ACDE-B2F68F88D4BB}"/>
              </a:ext>
            </a:extLst>
          </p:cNvPr>
          <p:cNvGrpSpPr/>
          <p:nvPr/>
        </p:nvGrpSpPr>
        <p:grpSpPr>
          <a:xfrm>
            <a:off x="5738956" y="1874519"/>
            <a:ext cx="1371233" cy="723473"/>
            <a:chOff x="5693054" y="1904146"/>
            <a:chExt cx="1371233" cy="723473"/>
          </a:xfrm>
        </p:grpSpPr>
        <p:cxnSp>
          <p:nvCxnSpPr>
            <p:cNvPr id="135" name="Connector 134"/>
            <p:cNvCxnSpPr/>
            <p:nvPr/>
          </p:nvCxnSpPr>
          <p:spPr>
            <a:xfrm>
              <a:off x="5735116" y="2063983"/>
              <a:ext cx="277612" cy="5047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Connector 135"/>
            <p:cNvCxnSpPr/>
            <p:nvPr/>
          </p:nvCxnSpPr>
          <p:spPr>
            <a:xfrm>
              <a:off x="5735116" y="2063983"/>
              <a:ext cx="210312" cy="353324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Connector 136"/>
            <p:cNvCxnSpPr/>
            <p:nvPr/>
          </p:nvCxnSpPr>
          <p:spPr>
            <a:xfrm flipV="1">
              <a:off x="6012728" y="1946208"/>
              <a:ext cx="218725" cy="16825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Connector 137"/>
            <p:cNvCxnSpPr/>
            <p:nvPr/>
          </p:nvCxnSpPr>
          <p:spPr>
            <a:xfrm flipH="1">
              <a:off x="5945428" y="2114458"/>
              <a:ext cx="67300" cy="3028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Connector 138"/>
            <p:cNvCxnSpPr/>
            <p:nvPr/>
          </p:nvCxnSpPr>
          <p:spPr>
            <a:xfrm>
              <a:off x="6012728" y="2114458"/>
              <a:ext cx="286024" cy="3701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Connector 139"/>
            <p:cNvCxnSpPr/>
            <p:nvPr/>
          </p:nvCxnSpPr>
          <p:spPr>
            <a:xfrm>
              <a:off x="6231453" y="1946208"/>
              <a:ext cx="134599" cy="28602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Connector 140"/>
            <p:cNvCxnSpPr/>
            <p:nvPr/>
          </p:nvCxnSpPr>
          <p:spPr>
            <a:xfrm>
              <a:off x="6231453" y="1946208"/>
              <a:ext cx="420624" cy="92538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Connector 141"/>
            <p:cNvCxnSpPr/>
            <p:nvPr/>
          </p:nvCxnSpPr>
          <p:spPr>
            <a:xfrm>
              <a:off x="6231453" y="1946208"/>
              <a:ext cx="67299" cy="53839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Connector 142"/>
            <p:cNvCxnSpPr/>
            <p:nvPr/>
          </p:nvCxnSpPr>
          <p:spPr>
            <a:xfrm>
              <a:off x="6366052" y="2232233"/>
              <a:ext cx="210312" cy="302849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Connector 143"/>
            <p:cNvCxnSpPr/>
            <p:nvPr/>
          </p:nvCxnSpPr>
          <p:spPr>
            <a:xfrm>
              <a:off x="6652077" y="2038746"/>
              <a:ext cx="168249" cy="311262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Connector 144"/>
            <p:cNvCxnSpPr/>
            <p:nvPr/>
          </p:nvCxnSpPr>
          <p:spPr>
            <a:xfrm>
              <a:off x="6652077" y="2038746"/>
              <a:ext cx="319674" cy="75712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Connector 145"/>
            <p:cNvCxnSpPr/>
            <p:nvPr/>
          </p:nvCxnSpPr>
          <p:spPr>
            <a:xfrm>
              <a:off x="5945428" y="2417307"/>
              <a:ext cx="353324" cy="6730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Connector 146"/>
            <p:cNvCxnSpPr/>
            <p:nvPr/>
          </p:nvCxnSpPr>
          <p:spPr>
            <a:xfrm>
              <a:off x="6298752" y="2484607"/>
              <a:ext cx="277612" cy="50475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 147"/>
            <p:cNvCxnSpPr/>
            <p:nvPr/>
          </p:nvCxnSpPr>
          <p:spPr>
            <a:xfrm flipV="1">
              <a:off x="6820326" y="2114458"/>
              <a:ext cx="151425" cy="235550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Connector 148"/>
            <p:cNvCxnSpPr/>
            <p:nvPr/>
          </p:nvCxnSpPr>
          <p:spPr>
            <a:xfrm flipH="1">
              <a:off x="6576364" y="2350008"/>
              <a:ext cx="243962" cy="185074"/>
            </a:xfrm>
            <a:prstGeom prst="line">
              <a:avLst/>
            </a:prstGeom>
            <a:ln w="7620">
              <a:solidFill>
                <a:srgbClr val="5F6B7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Oval 149"/>
            <p:cNvSpPr/>
            <p:nvPr/>
          </p:nvSpPr>
          <p:spPr>
            <a:xfrm>
              <a:off x="5693054" y="2021921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1" name="Oval 150"/>
            <p:cNvSpPr/>
            <p:nvPr/>
          </p:nvSpPr>
          <p:spPr>
            <a:xfrm>
              <a:off x="5970666" y="207239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2" name="Oval 151"/>
            <p:cNvSpPr/>
            <p:nvPr/>
          </p:nvSpPr>
          <p:spPr>
            <a:xfrm>
              <a:off x="6189390" y="190414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3" name="Oval 152"/>
            <p:cNvSpPr/>
            <p:nvPr/>
          </p:nvSpPr>
          <p:spPr>
            <a:xfrm>
              <a:off x="6323990" y="2190170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4" name="Oval 153"/>
            <p:cNvSpPr/>
            <p:nvPr/>
          </p:nvSpPr>
          <p:spPr>
            <a:xfrm>
              <a:off x="6610014" y="1996683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5" name="Oval 154"/>
            <p:cNvSpPr/>
            <p:nvPr/>
          </p:nvSpPr>
          <p:spPr>
            <a:xfrm>
              <a:off x="5903366" y="23752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6" name="Oval 155"/>
            <p:cNvSpPr/>
            <p:nvPr/>
          </p:nvSpPr>
          <p:spPr>
            <a:xfrm>
              <a:off x="6256690" y="24425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7" name="Oval 156"/>
            <p:cNvSpPr/>
            <p:nvPr/>
          </p:nvSpPr>
          <p:spPr>
            <a:xfrm>
              <a:off x="6778264" y="2307945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8" name="Oval 157"/>
            <p:cNvSpPr/>
            <p:nvPr/>
          </p:nvSpPr>
          <p:spPr>
            <a:xfrm>
              <a:off x="6929688" y="2072396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9" name="Oval 158"/>
            <p:cNvSpPr/>
            <p:nvPr/>
          </p:nvSpPr>
          <p:spPr>
            <a:xfrm>
              <a:off x="6534302" y="2493020"/>
              <a:ext cx="134599" cy="134599"/>
            </a:xfrm>
            <a:prstGeom prst="ellipse">
              <a:avLst/>
            </a:prstGeom>
            <a:solidFill>
              <a:srgbClr val="2B83CF"/>
            </a:solidFill>
            <a:ln w="12700">
              <a:solidFill>
                <a:srgbClr val="06245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06" name="Rounded Rectangle 241">
            <a:extLst>
              <a:ext uri="{FF2B5EF4-FFF2-40B4-BE49-F238E27FC236}">
                <a16:creationId xmlns:a16="http://schemas.microsoft.com/office/drawing/2014/main" id="{CF100CD9-AC95-BF74-D855-9E9BA48AB02C}"/>
              </a:ext>
            </a:extLst>
          </p:cNvPr>
          <p:cNvSpPr/>
          <p:nvPr/>
        </p:nvSpPr>
        <p:spPr>
          <a:xfrm>
            <a:off x="9483996" y="3387852"/>
            <a:ext cx="1063753" cy="300227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156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 fontScale="85000" lnSpcReduction="10000"/>
          </a:bodyPr>
          <a:lstStyle/>
          <a:p>
            <a:pPr algn="ctr"/>
            <a:r>
              <a:rPr lang="en-US" altLang="zh-CN" sz="1400" dirty="0">
                <a:solidFill>
                  <a:srgbClr val="1567B7"/>
                </a:solidFill>
              </a:rPr>
              <a:t>Graph Bayesian</a:t>
            </a:r>
            <a:endParaRPr sz="1400" dirty="0">
              <a:solidFill>
                <a:srgbClr val="1567B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215</Words>
  <Application>Microsoft Office PowerPoint</Application>
  <PresentationFormat>自定义</PresentationFormat>
  <Paragraphs>109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挽安</dc:creator>
  <cp:keywords/>
  <dc:description>generated using python-pptx</dc:description>
  <cp:lastModifiedBy>安 挽</cp:lastModifiedBy>
  <cp:revision>16</cp:revision>
  <dcterms:created xsi:type="dcterms:W3CDTF">2013-01-27T09:14:16Z</dcterms:created>
  <dcterms:modified xsi:type="dcterms:W3CDTF">2026-05-26T12:33:59Z</dcterms:modified>
  <cp:category/>
</cp:coreProperties>
</file>